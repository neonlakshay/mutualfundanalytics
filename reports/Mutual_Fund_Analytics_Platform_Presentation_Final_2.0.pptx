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1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922FF6A-F3E4-4929-849A-71199A6DA43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a slow, subtle fade-in. Let the data nodes appear before the title settles. No flashy motion.</a:t>
            </a:r>
          </a:p>
        </p:txBody>
      </p:sp>
      <p:sp>
        <p:nvSpPr>
          <p:cNvPr id="58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01C1D7-55DD-4957-8C8E-0B3F68B4D1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Fade each problem stage left-to-right. Keep the point: the challenge is workflow fragmentation, not data scarcity.</a:t>
            </a:r>
          </a:p>
        </p:txBody>
      </p:sp>
      <p:sp>
        <p:nvSpPr>
          <p:cNvPr id="58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8D7335-331E-466B-9C39-258409AE15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Morph-style sequence: one stage unlocks the next. The final “AUTOMATE” box should glow subtly.</a:t>
            </a:r>
          </a:p>
        </p:txBody>
      </p:sp>
      <p:sp>
        <p:nvSpPr>
          <p:cNvPr id="59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F1531B-72F2-4713-847E-5F7DC9DCDE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Reveal each layer top-to-bottom. Use a subtle wipe and keep connectors static.</a:t>
            </a:r>
          </a:p>
        </p:txBody>
      </p:sp>
      <p:sp>
        <p:nvSpPr>
          <p:cNvPr id="59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A02752-172C-498E-996D-DB7AFBCD17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Reveal Extract → Transform → Validate → Load. Then reveal the dataset list as a supporting “source map.”</a:t>
            </a:r>
          </a:p>
        </p:txBody>
      </p:sp>
      <p:sp>
        <p:nvSpPr>
          <p:cNvPr id="59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758BEE-F04C-4740-A290-F26B793A55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Reveal dimensions first, then fact tables, then the central analytical core. Use gentle fade between groups.</a:t>
            </a:r>
          </a:p>
        </p:txBody>
      </p:sp>
      <p:sp>
        <p:nvSpPr>
          <p:cNvPr id="59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08E682-3B10-4D8B-BA6C-2B1B7FDC41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radial build: center first, then technologies appear around it. Keep motion subtle.</a:t>
            </a:r>
          </a:p>
        </p:txBody>
      </p:sp>
      <p:sp>
        <p:nvSpPr>
          <p:cNvPr id="60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D11033-DF99-4757-914E-9A5F7C7C01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Treat this like a product demo. A very subtle zoom-in on the dashboard image works well.</a:t>
            </a:r>
          </a:p>
        </p:txBody>
      </p:sp>
      <p:sp>
        <p:nvSpPr>
          <p:cNvPr id="605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5FDD7A-A1BD-4BFE-ACF9-8C204E0713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Bring the four analytical lenses in from opposite corners. Keep the charts static and legible.</a:t>
            </a:r>
          </a:p>
        </p:txBody>
      </p:sp>
      <p:sp>
        <p:nvSpPr>
          <p:cNvPr id="608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0DE669-695B-4663-B7D8-2B87AFD86D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a sequential reveal. The “Optimal Allocation” node should only appear after Sharpe Ratio.</a:t>
            </a:r>
          </a:p>
        </p:txBody>
      </p:sp>
      <p:sp>
        <p:nvSpPr>
          <p:cNvPr id="611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B728F9-6992-4F74-87F0-6149A200D9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Reveal the simulation scatter first; then add the MAX SHARPE label and the three metrics. A gentle fade is enough.</a:t>
            </a:r>
          </a:p>
        </p:txBody>
      </p:sp>
      <p:sp>
        <p:nvSpPr>
          <p:cNvPr id="614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9438DB-4CE3-4259-8368-9D7AC39EF1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sequential wipe from Dashboard → HTML → SMTP → Email → Scheduler. The final node should glow lightly.</a:t>
            </a:r>
          </a:p>
        </p:txBody>
      </p:sp>
      <p:sp>
        <p:nvSpPr>
          <p:cNvPr id="617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04E162-DB08-4481-813D-0FD3B0BB5D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Reveal capabilities in two columns. Close with the end-to-end outcome bar.</a:t>
            </a:r>
          </a:p>
        </p:txBody>
      </p:sp>
      <p:sp>
        <p:nvSpPr>
          <p:cNvPr id="620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F326AB-EC3D-46A9-8FE6-9467463600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Reveal the three columns in order. The bottom progression arrow should appear last.</a:t>
            </a:r>
          </a:p>
        </p:txBody>
      </p:sp>
      <p:sp>
        <p:nvSpPr>
          <p:cNvPr id="623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EC7354-667A-4913-8335-8B06665C6C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a minimal closing fade. No additional animation. Let the final statement sit on screen.</a:t>
            </a:r>
          </a:p>
        </p:txBody>
      </p:sp>
      <p:sp>
        <p:nvSpPr>
          <p:cNvPr id="626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6FA6B5-B9E6-4DA8-A4DC-9342EF558D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Text 1"/>
          <p:cNvSpPr/>
          <p:nvPr/>
        </p:nvSpPr>
        <p:spPr>
          <a:xfrm>
            <a:off x="502920" y="651060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MUTUAL FUND ANALYTICS PLATFORM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Text 2"/>
          <p:cNvSpPr/>
          <p:nvPr/>
        </p:nvSpPr>
        <p:spPr>
          <a:xfrm>
            <a:off x="7543800" y="6510600"/>
            <a:ext cx="4068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LAKSHAY NEGI  •  BLUESTOCK FINTECH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75904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A001E89-5192-4608-B8E3-F239999C9CB9}" type="slidenum">
              <a: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‹#›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21"/>
          <p:cNvSpPr/>
          <p:nvPr/>
        </p:nvSpPr>
        <p:spPr>
          <a:xfrm>
            <a:off x="658440" y="960120"/>
            <a:ext cx="571464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 spc="20">
                <a:solidFill>
                  <a:srgbClr val="F5F7FA"/>
                </a:solidFill>
                <a:effectLst/>
                <a:uFillTx/>
                <a:latin typeface="Aptos Display"/>
                <a:ea typeface="Aptos Display"/>
              </a:rPr>
              <a:t>MUTUAL FUND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 spc="20">
                <a:solidFill>
                  <a:srgbClr val="F5F7FA"/>
                </a:solidFill>
                <a:effectLst/>
                <a:uFillTx/>
                <a:latin typeface="Aptos Display"/>
                <a:ea typeface="Aptos Display"/>
              </a:rPr>
              <a:t>ANALYTICS PLATFORM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2"/>
          <p:cNvSpPr/>
          <p:nvPr/>
        </p:nvSpPr>
        <p:spPr>
          <a:xfrm>
            <a:off x="694800" y="2541960"/>
            <a:ext cx="5074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An end-to-end financial data analytics &amp; investment intelligence system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5"/>
          <p:cNvSpPr/>
          <p:nvPr/>
        </p:nvSpPr>
        <p:spPr>
          <a:xfrm>
            <a:off x="704160" y="3749040"/>
            <a:ext cx="27428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Lakshay Negi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6"/>
          <p:cNvSpPr/>
          <p:nvPr/>
        </p:nvSpPr>
        <p:spPr>
          <a:xfrm>
            <a:off x="704160" y="4133160"/>
            <a:ext cx="5074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B.Tech CSE (AI &amp; ML)  •  Dronacharya College of Engineering, Gurugram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7"/>
          <p:cNvSpPr/>
          <p:nvPr/>
        </p:nvSpPr>
        <p:spPr>
          <a:xfrm>
            <a:off x="704160" y="4462200"/>
            <a:ext cx="5074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Bluestock Fintech Data Analytics Internship Program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8"/>
          <p:cNvSpPr/>
          <p:nvPr/>
        </p:nvSpPr>
        <p:spPr>
          <a:xfrm>
            <a:off x="704160" y="490104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D7DFEA"/>
                </a:solidFill>
                <a:effectLst/>
                <a:uFillTx/>
                <a:latin typeface="Aptos"/>
              </a:rPr>
              <a:t>Mentor: Yash Kale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806440" y="749808"/>
            <a:ext cx="4617720" cy="4846320"/>
          </a:xfrm>
          <a:prstGeom prst="roundRect">
            <a:avLst/>
          </a:prstGeom>
          <a:solidFill>
            <a:srgbClr val="181F30"/>
          </a:solidFill>
          <a:ln w="15240">
            <a:solidFill>
              <a:srgbClr val="2D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08192" y="100584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6F8FB"/>
                </a:solidFill>
                <a:latin typeface="Aptos"/>
              </a:defRPr>
            </a:pPr>
            <a:r>
              <a:t>DATA  →  ANALYTICS  →  DECISION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19088" y="1572768"/>
            <a:ext cx="9144" cy="3401568"/>
          </a:xfrm>
          <a:prstGeom prst="rect">
            <a:avLst/>
          </a:prstGeom>
          <a:solidFill>
            <a:srgbClr val="414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424927" y="1572768"/>
            <a:ext cx="9144" cy="3401568"/>
          </a:xfrm>
          <a:prstGeom prst="rect">
            <a:avLst/>
          </a:prstGeom>
          <a:solidFill>
            <a:srgbClr val="414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430768" y="1572768"/>
            <a:ext cx="9144" cy="3401568"/>
          </a:xfrm>
          <a:prstGeom prst="rect">
            <a:avLst/>
          </a:prstGeom>
          <a:solidFill>
            <a:srgbClr val="414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436608" y="1572768"/>
            <a:ext cx="9144" cy="3401568"/>
          </a:xfrm>
          <a:prstGeom prst="rect">
            <a:avLst/>
          </a:prstGeom>
          <a:solidFill>
            <a:srgbClr val="414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08192" y="2011680"/>
            <a:ext cx="4023360" cy="7315"/>
          </a:xfrm>
          <a:prstGeom prst="rect">
            <a:avLst/>
          </a:prstGeom>
          <a:solidFill>
            <a:srgbClr val="414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108192" y="2706624"/>
            <a:ext cx="4023360" cy="7315"/>
          </a:xfrm>
          <a:prstGeom prst="rect">
            <a:avLst/>
          </a:prstGeom>
          <a:solidFill>
            <a:srgbClr val="414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108192" y="3401568"/>
            <a:ext cx="4023360" cy="7315"/>
          </a:xfrm>
          <a:prstGeom prst="rect">
            <a:avLst/>
          </a:prstGeom>
          <a:solidFill>
            <a:srgbClr val="414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08192" y="4096512"/>
            <a:ext cx="4023360" cy="7315"/>
          </a:xfrm>
          <a:prstGeom prst="rect">
            <a:avLst/>
          </a:prstGeom>
          <a:solidFill>
            <a:srgbClr val="414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108192" y="4791456"/>
            <a:ext cx="4023360" cy="7315"/>
          </a:xfrm>
          <a:prstGeom prst="rect">
            <a:avLst/>
          </a:prstGeom>
          <a:solidFill>
            <a:srgbClr val="414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263640" y="1847088"/>
            <a:ext cx="731520" cy="548640"/>
          </a:xfrm>
          <a:prstGeom prst="roundRect">
            <a:avLst/>
          </a:prstGeom>
          <a:solidFill>
            <a:srgbClr val="1F2A3F"/>
          </a:solidFill>
          <a:ln w="1524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A90E2"/>
                </a:solidFill>
                <a:latin typeface="Aptos"/>
              </a:defRPr>
            </a:pPr>
            <a:r>
              <a:t>NAV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63640" y="2542032"/>
            <a:ext cx="731520" cy="548640"/>
          </a:xfrm>
          <a:prstGeom prst="roundRect">
            <a:avLst/>
          </a:prstGeom>
          <a:solidFill>
            <a:srgbClr val="1F2A3F"/>
          </a:solidFill>
          <a:ln w="15240">
            <a:solidFill>
              <a:srgbClr val="5BC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BC0EB"/>
                </a:solidFill>
                <a:latin typeface="Aptos"/>
              </a:defRPr>
            </a:pPr>
            <a:r>
              <a:t>AUM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63640" y="3236976"/>
            <a:ext cx="731520" cy="548640"/>
          </a:xfrm>
          <a:prstGeom prst="roundRect">
            <a:avLst/>
          </a:prstGeom>
          <a:solidFill>
            <a:srgbClr val="1F2A3F"/>
          </a:solidFill>
          <a:ln w="15240">
            <a:solidFill>
              <a:srgbClr val="37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7D399"/>
                </a:solidFill>
                <a:latin typeface="Aptos"/>
              </a:defRPr>
            </a:pPr>
            <a:r>
              <a:t>TXNS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63640" y="3931920"/>
            <a:ext cx="731520" cy="548640"/>
          </a:xfrm>
          <a:prstGeom prst="roundRect">
            <a:avLst/>
          </a:prstGeom>
          <a:solidFill>
            <a:srgbClr val="1F2A3F"/>
          </a:solidFill>
          <a:ln w="1524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6F8FB"/>
                </a:solidFill>
                <a:latin typeface="Aptos"/>
              </a:defRPr>
            </a:pPr>
            <a:r>
              <a:t>FUNDS</a:t>
            </a:r>
          </a:p>
        </p:txBody>
      </p:sp>
      <p:sp>
        <p:nvSpPr>
          <p:cNvPr id="56" name="Oval 55"/>
          <p:cNvSpPr/>
          <p:nvPr/>
        </p:nvSpPr>
        <p:spPr>
          <a:xfrm>
            <a:off x="7434072" y="1938528"/>
            <a:ext cx="868680" cy="658368"/>
          </a:xfrm>
          <a:prstGeom prst="ellipse">
            <a:avLst/>
          </a:prstGeom>
          <a:solidFill>
            <a:srgbClr val="1F2A3F"/>
          </a:solidFill>
          <a:ln w="20320">
            <a:solidFill>
              <a:srgbClr val="37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6F8FB"/>
                </a:solidFill>
                <a:latin typeface="Aptos"/>
              </a:defRPr>
            </a:pPr>
            <a:r>
              <a:t>ETL</a:t>
            </a:r>
          </a:p>
        </p:txBody>
      </p:sp>
      <p:sp>
        <p:nvSpPr>
          <p:cNvPr id="57" name="Oval 56"/>
          <p:cNvSpPr/>
          <p:nvPr/>
        </p:nvSpPr>
        <p:spPr>
          <a:xfrm>
            <a:off x="7434072" y="2907792"/>
            <a:ext cx="868680" cy="658368"/>
          </a:xfrm>
          <a:prstGeom prst="ellipse">
            <a:avLst/>
          </a:prstGeom>
          <a:solidFill>
            <a:srgbClr val="1F2A3F"/>
          </a:solidFill>
          <a:ln w="2032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6F8FB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58" name="Oval 57"/>
          <p:cNvSpPr/>
          <p:nvPr/>
        </p:nvSpPr>
        <p:spPr>
          <a:xfrm>
            <a:off x="7434072" y="3877056"/>
            <a:ext cx="868680" cy="658368"/>
          </a:xfrm>
          <a:prstGeom prst="ellipse">
            <a:avLst/>
          </a:prstGeom>
          <a:solidFill>
            <a:srgbClr val="1F2A3F"/>
          </a:solidFill>
          <a:ln w="20320">
            <a:solidFill>
              <a:srgbClr val="5BC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6F8FB"/>
                </a:solidFill>
                <a:latin typeface="Aptos"/>
              </a:defRPr>
            </a:pPr>
            <a:r>
              <a:t>BI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995160" y="2121408"/>
            <a:ext cx="438912" cy="146304"/>
          </a:xfrm>
          <a:prstGeom prst="line">
            <a:avLst/>
          </a:prstGeom>
          <a:ln w="17780">
            <a:solidFill>
              <a:srgbClr val="41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995160" y="2816352"/>
            <a:ext cx="438912" cy="420624"/>
          </a:xfrm>
          <a:prstGeom prst="line">
            <a:avLst/>
          </a:prstGeom>
          <a:ln w="17780">
            <a:solidFill>
              <a:srgbClr val="41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995160" y="3511296"/>
            <a:ext cx="438912" cy="694944"/>
          </a:xfrm>
          <a:prstGeom prst="line">
            <a:avLst/>
          </a:prstGeom>
          <a:ln w="17780">
            <a:solidFill>
              <a:srgbClr val="41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995160" y="4206240"/>
            <a:ext cx="438912" cy="0"/>
          </a:xfrm>
          <a:prstGeom prst="line">
            <a:avLst/>
          </a:prstGeom>
          <a:ln w="17780">
            <a:solidFill>
              <a:srgbClr val="41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302752" y="2267712"/>
            <a:ext cx="585216" cy="493776"/>
          </a:xfrm>
          <a:prstGeom prst="line">
            <a:avLst/>
          </a:prstGeom>
          <a:ln w="17780">
            <a:solidFill>
              <a:srgbClr val="41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302752" y="3236976"/>
            <a:ext cx="585216" cy="0"/>
          </a:xfrm>
          <a:prstGeom prst="line">
            <a:avLst/>
          </a:prstGeom>
          <a:ln w="17780">
            <a:solidFill>
              <a:srgbClr val="41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302752" y="3712463"/>
            <a:ext cx="585216" cy="493777"/>
          </a:xfrm>
          <a:prstGeom prst="line">
            <a:avLst/>
          </a:prstGeom>
          <a:ln w="17780">
            <a:solidFill>
              <a:srgbClr val="41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8796528" y="1901952"/>
            <a:ext cx="1280160" cy="2633472"/>
          </a:xfrm>
          <a:prstGeom prst="roundRect">
            <a:avLst/>
          </a:prstGeom>
          <a:solidFill>
            <a:srgbClr val="141B2A"/>
          </a:solidFill>
          <a:ln w="12700">
            <a:solidFill>
              <a:srgbClr val="374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7" name="Connector 66"/>
          <p:cNvCxnSpPr/>
          <p:nvPr/>
        </p:nvCxnSpPr>
        <p:spPr>
          <a:xfrm>
            <a:off x="8997696" y="3419856"/>
            <a:ext cx="877824" cy="0"/>
          </a:xfrm>
          <a:prstGeom prst="line">
            <a:avLst/>
          </a:prstGeom>
          <a:ln w="8890">
            <a:solidFill>
              <a:srgbClr val="A7B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997696" y="2404872"/>
            <a:ext cx="0" cy="1014984"/>
          </a:xfrm>
          <a:prstGeom prst="line">
            <a:avLst/>
          </a:prstGeom>
          <a:ln w="8890">
            <a:solidFill>
              <a:srgbClr val="A7B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997696" y="3035808"/>
            <a:ext cx="164592" cy="109728"/>
          </a:xfrm>
          <a:prstGeom prst="line">
            <a:avLst/>
          </a:prstGeom>
          <a:ln w="27940">
            <a:solidFill>
              <a:srgbClr val="37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162288" y="3035808"/>
            <a:ext cx="164592" cy="54864"/>
          </a:xfrm>
          <a:prstGeom prst="line">
            <a:avLst/>
          </a:prstGeom>
          <a:ln w="27940">
            <a:solidFill>
              <a:srgbClr val="37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326880" y="2834640"/>
            <a:ext cx="164592" cy="256032"/>
          </a:xfrm>
          <a:prstGeom prst="line">
            <a:avLst/>
          </a:prstGeom>
          <a:ln w="27940">
            <a:solidFill>
              <a:srgbClr val="37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491472" y="2834640"/>
            <a:ext cx="164592" cy="54864"/>
          </a:xfrm>
          <a:prstGeom prst="line">
            <a:avLst/>
          </a:prstGeom>
          <a:ln w="27940">
            <a:solidFill>
              <a:srgbClr val="37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656064" y="2578608"/>
            <a:ext cx="219456" cy="310896"/>
          </a:xfrm>
          <a:prstGeom prst="line">
            <a:avLst/>
          </a:prstGeom>
          <a:ln w="27940">
            <a:solidFill>
              <a:srgbClr val="37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8988552" y="3730752"/>
            <a:ext cx="109728" cy="310896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189720" y="3529584"/>
            <a:ext cx="109728" cy="512064"/>
          </a:xfrm>
          <a:prstGeom prst="rect">
            <a:avLst/>
          </a:prstGeom>
          <a:solidFill>
            <a:srgbClr val="5BC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390888" y="3621024"/>
            <a:ext cx="109728" cy="420624"/>
          </a:xfrm>
          <a:prstGeom prst="rect">
            <a:avLst/>
          </a:prstGeom>
          <a:solidFill>
            <a:srgbClr val="37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592056" y="3328415"/>
            <a:ext cx="109728" cy="7132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988552" y="3566160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7B3C6"/>
                </a:solidFill>
                <a:latin typeface="Aptos"/>
              </a:defRPr>
            </a:pPr>
            <a:r>
              <a:t>INSIGHT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4572000"/>
            <a:ext cx="960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7D399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80" name="Oval 79"/>
          <p:cNvSpPr/>
          <p:nvPr/>
        </p:nvSpPr>
        <p:spPr>
          <a:xfrm>
            <a:off x="9784080" y="1591056"/>
            <a:ext cx="347472" cy="347472"/>
          </a:xfrm>
          <a:prstGeom prst="ellipse">
            <a:avLst/>
          </a:prstGeom>
          <a:solidFill>
            <a:srgbClr val="192131"/>
          </a:solidFill>
          <a:ln w="1524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0076688" y="2066543"/>
            <a:ext cx="237744" cy="237744"/>
          </a:xfrm>
          <a:prstGeom prst="ellipse">
            <a:avLst/>
          </a:prstGeom>
          <a:solidFill>
            <a:srgbClr val="192131"/>
          </a:solidFill>
          <a:ln w="15240">
            <a:solidFill>
              <a:srgbClr val="5BC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0003536" y="3383280"/>
            <a:ext cx="310896" cy="310896"/>
          </a:xfrm>
          <a:prstGeom prst="ellipse">
            <a:avLst/>
          </a:prstGeom>
          <a:solidFill>
            <a:srgbClr val="192131"/>
          </a:solidFill>
          <a:ln w="15240">
            <a:solidFill>
              <a:srgbClr val="37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9720072" y="4636008"/>
            <a:ext cx="274320" cy="274320"/>
          </a:xfrm>
          <a:prstGeom prst="ellipse">
            <a:avLst/>
          </a:prstGeom>
          <a:solidFill>
            <a:srgbClr val="192131"/>
          </a:solidFill>
          <a:ln w="1524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126480" y="5084064"/>
            <a:ext cx="3886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7B3C6"/>
                </a:solidFill>
                <a:latin typeface="Aptos"/>
              </a:defRPr>
            </a:pPr>
            <a:r>
              <a:t>A unified workflow from raw financial data to decision support.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621720" y="411480"/>
            <a:ext cx="10423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5F7FA"/>
                </a:solidFill>
                <a:effectLst/>
                <a:uFillTx/>
                <a:latin typeface="Aptos Display"/>
                <a:ea typeface="Aptos Display"/>
              </a:rPr>
              <a:t>Why Mutual Fund Analytics?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640080" y="932760"/>
            <a:ext cx="10332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The problem is not lack of data. It is turning fragmented financial data into usable insight.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640080" y="1353240"/>
            <a:ext cx="1142640" cy="310680"/>
          </a:xfrm>
          <a:prstGeom prst="roundRect">
            <a:avLst>
              <a:gd name="adj" fmla="val 17647"/>
            </a:avLst>
          </a:prstGeom>
          <a:solidFill>
            <a:srgbClr val="FF7A90">
              <a:alpha val="16000"/>
            </a:srgbClr>
          </a:solidFill>
          <a:ln w="12700">
            <a:solidFill>
              <a:srgbClr val="FF7A9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731520" y="1422000"/>
            <a:ext cx="9597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7A90"/>
                </a:solidFill>
                <a:effectLst/>
                <a:uFillTx/>
                <a:latin typeface="Aptos"/>
                <a:ea typeface="Aptos"/>
              </a:rPr>
              <a:t>THE PROBLEM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4"/>
          <p:cNvSpPr/>
          <p:nvPr/>
        </p:nvSpPr>
        <p:spPr>
          <a:xfrm>
            <a:off x="640080" y="1920240"/>
            <a:ext cx="2358720" cy="1316520"/>
          </a:xfrm>
          <a:prstGeom prst="roundRect">
            <a:avLst>
              <a:gd name="adj" fmla="val 8333"/>
            </a:avLst>
          </a:prstGeom>
          <a:solidFill>
            <a:srgbClr val="121B2C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5"/>
          <p:cNvSpPr/>
          <p:nvPr/>
        </p:nvSpPr>
        <p:spPr>
          <a:xfrm>
            <a:off x="768240" y="2048400"/>
            <a:ext cx="145800" cy="145800"/>
          </a:xfrm>
          <a:prstGeom prst="ellipse">
            <a:avLst/>
          </a:prstGeom>
          <a:solidFill>
            <a:srgbClr val="4BA3FF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6"/>
          <p:cNvSpPr/>
          <p:nvPr/>
        </p:nvSpPr>
        <p:spPr>
          <a:xfrm>
            <a:off x="1005840" y="2011680"/>
            <a:ext cx="188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RAW DATA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7"/>
          <p:cNvSpPr/>
          <p:nvPr/>
        </p:nvSpPr>
        <p:spPr>
          <a:xfrm>
            <a:off x="777240" y="2286000"/>
            <a:ext cx="2084400" cy="85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NAV • AUM •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transactions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8"/>
          <p:cNvSpPr/>
          <p:nvPr/>
        </p:nvSpPr>
        <p:spPr>
          <a:xfrm>
            <a:off x="2999160" y="2578320"/>
            <a:ext cx="27432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9"/>
          <p:cNvSpPr/>
          <p:nvPr/>
        </p:nvSpPr>
        <p:spPr>
          <a:xfrm>
            <a:off x="3410640" y="1920240"/>
            <a:ext cx="2358720" cy="1316520"/>
          </a:xfrm>
          <a:prstGeom prst="roundRect">
            <a:avLst>
              <a:gd name="adj" fmla="val 8333"/>
            </a:avLst>
          </a:prstGeom>
          <a:solidFill>
            <a:srgbClr val="121B2C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0"/>
          <p:cNvSpPr/>
          <p:nvPr/>
        </p:nvSpPr>
        <p:spPr>
          <a:xfrm>
            <a:off x="3538800" y="2048400"/>
            <a:ext cx="145800" cy="145800"/>
          </a:xfrm>
          <a:prstGeom prst="ellipse">
            <a:avLst/>
          </a:prstGeom>
          <a:solidFill>
            <a:srgbClr val="4BA3FF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1"/>
          <p:cNvSpPr/>
          <p:nvPr/>
        </p:nvSpPr>
        <p:spPr>
          <a:xfrm>
            <a:off x="3776400" y="2011680"/>
            <a:ext cx="188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COMPLEXITY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2"/>
          <p:cNvSpPr/>
          <p:nvPr/>
        </p:nvSpPr>
        <p:spPr>
          <a:xfrm>
            <a:off x="3547800" y="2286000"/>
            <a:ext cx="2084400" cy="85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Many sources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+ formats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3"/>
          <p:cNvSpPr/>
          <p:nvPr/>
        </p:nvSpPr>
        <p:spPr>
          <a:xfrm>
            <a:off x="5769720" y="2578320"/>
            <a:ext cx="27432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4"/>
          <p:cNvSpPr/>
          <p:nvPr/>
        </p:nvSpPr>
        <p:spPr>
          <a:xfrm>
            <a:off x="6181200" y="1920240"/>
            <a:ext cx="2358720" cy="1316520"/>
          </a:xfrm>
          <a:prstGeom prst="roundRect">
            <a:avLst>
              <a:gd name="adj" fmla="val 8333"/>
            </a:avLst>
          </a:prstGeom>
          <a:solidFill>
            <a:srgbClr val="121B2C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5"/>
          <p:cNvSpPr/>
          <p:nvPr/>
        </p:nvSpPr>
        <p:spPr>
          <a:xfrm>
            <a:off x="6309360" y="2048400"/>
            <a:ext cx="145800" cy="145800"/>
          </a:xfrm>
          <a:prstGeom prst="ellipse">
            <a:avLst/>
          </a:prstGeom>
          <a:solidFill>
            <a:srgbClr val="4BA3FF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6"/>
          <p:cNvSpPr/>
          <p:nvPr/>
        </p:nvSpPr>
        <p:spPr>
          <a:xfrm>
            <a:off x="6546960" y="2011680"/>
            <a:ext cx="188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MANUAL ANALYSIS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7"/>
          <p:cNvSpPr/>
          <p:nvPr/>
        </p:nvSpPr>
        <p:spPr>
          <a:xfrm>
            <a:off x="6318360" y="2286000"/>
            <a:ext cx="2084400" cy="85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Spreadsheets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+ static reports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8"/>
          <p:cNvSpPr/>
          <p:nvPr/>
        </p:nvSpPr>
        <p:spPr>
          <a:xfrm>
            <a:off x="8540280" y="2578320"/>
            <a:ext cx="27432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9"/>
          <p:cNvSpPr/>
          <p:nvPr/>
        </p:nvSpPr>
        <p:spPr>
          <a:xfrm>
            <a:off x="8952120" y="1920240"/>
            <a:ext cx="2358720" cy="1316520"/>
          </a:xfrm>
          <a:prstGeom prst="roundRect">
            <a:avLst>
              <a:gd name="adj" fmla="val 8333"/>
            </a:avLst>
          </a:prstGeom>
          <a:solidFill>
            <a:srgbClr val="121B2C"/>
          </a:solidFill>
          <a:ln w="12700">
            <a:solidFill>
              <a:srgbClr val="FF7A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0"/>
          <p:cNvSpPr/>
          <p:nvPr/>
        </p:nvSpPr>
        <p:spPr>
          <a:xfrm>
            <a:off x="9079920" y="2048400"/>
            <a:ext cx="145800" cy="14580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1"/>
          <p:cNvSpPr/>
          <p:nvPr/>
        </p:nvSpPr>
        <p:spPr>
          <a:xfrm>
            <a:off x="9317880" y="2011680"/>
            <a:ext cx="1883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LIMITED INSIGHT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2"/>
          <p:cNvSpPr/>
          <p:nvPr/>
        </p:nvSpPr>
        <p:spPr>
          <a:xfrm>
            <a:off x="9089280" y="2286000"/>
            <a:ext cx="2084400" cy="85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Slow comparison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+ weak automation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3"/>
          <p:cNvSpPr/>
          <p:nvPr/>
        </p:nvSpPr>
        <p:spPr>
          <a:xfrm>
            <a:off x="640080" y="3703320"/>
            <a:ext cx="10917720" cy="1782720"/>
          </a:xfrm>
          <a:prstGeom prst="roundRect">
            <a:avLst>
              <a:gd name="adj" fmla="val 6154"/>
            </a:avLst>
          </a:prstGeom>
          <a:solidFill>
            <a:srgbClr val="172337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4"/>
          <p:cNvSpPr/>
          <p:nvPr/>
        </p:nvSpPr>
        <p:spPr>
          <a:xfrm>
            <a:off x="859680" y="3931920"/>
            <a:ext cx="4754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THE PROJECT RESPONDS TO FIVE CORE FRICTIONS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5"/>
          <p:cNvSpPr/>
          <p:nvPr/>
        </p:nvSpPr>
        <p:spPr>
          <a:xfrm>
            <a:off x="877680" y="4384440"/>
            <a:ext cx="82080" cy="8208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6"/>
          <p:cNvSpPr/>
          <p:nvPr/>
        </p:nvSpPr>
        <p:spPr>
          <a:xfrm>
            <a:off x="1042560" y="4316040"/>
            <a:ext cx="4681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Scattered financial information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7"/>
          <p:cNvSpPr/>
          <p:nvPr/>
        </p:nvSpPr>
        <p:spPr>
          <a:xfrm>
            <a:off x="877680" y="4741200"/>
            <a:ext cx="82080" cy="82080"/>
          </a:xfrm>
          <a:prstGeom prst="ellipse">
            <a:avLst/>
          </a:prstGeom>
          <a:solidFill>
            <a:srgbClr val="4BA3FF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8"/>
          <p:cNvSpPr/>
          <p:nvPr/>
        </p:nvSpPr>
        <p:spPr>
          <a:xfrm>
            <a:off x="1042560" y="4672440"/>
            <a:ext cx="4681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Manual data processing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9"/>
          <p:cNvSpPr/>
          <p:nvPr/>
        </p:nvSpPr>
        <p:spPr>
          <a:xfrm>
            <a:off x="877680" y="5097960"/>
            <a:ext cx="82080" cy="8208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0"/>
          <p:cNvSpPr/>
          <p:nvPr/>
        </p:nvSpPr>
        <p:spPr>
          <a:xfrm>
            <a:off x="1042560" y="5029200"/>
            <a:ext cx="4681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Difficult fund comparison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31"/>
          <p:cNvSpPr/>
          <p:nvPr/>
        </p:nvSpPr>
        <p:spPr>
          <a:xfrm>
            <a:off x="6163200" y="4384440"/>
            <a:ext cx="82080" cy="8208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2"/>
          <p:cNvSpPr/>
          <p:nvPr/>
        </p:nvSpPr>
        <p:spPr>
          <a:xfrm>
            <a:off x="6327720" y="4316040"/>
            <a:ext cx="4681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Limited portfolio optimization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33"/>
          <p:cNvSpPr/>
          <p:nvPr/>
        </p:nvSpPr>
        <p:spPr>
          <a:xfrm>
            <a:off x="6163200" y="4741200"/>
            <a:ext cx="82080" cy="82080"/>
          </a:xfrm>
          <a:prstGeom prst="ellipse">
            <a:avLst/>
          </a:prstGeom>
          <a:solidFill>
            <a:srgbClr val="6DD7FF"/>
          </a:solidFill>
          <a:ln w="12700">
            <a:solidFill>
              <a:srgbClr val="6D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4"/>
          <p:cNvSpPr/>
          <p:nvPr/>
        </p:nvSpPr>
        <p:spPr>
          <a:xfrm>
            <a:off x="6327720" y="4672440"/>
            <a:ext cx="4681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Manual recurring reporting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sldNum" idx="6"/>
          </p:nvPr>
        </p:nvSpPr>
        <p:spPr>
          <a:xfrm>
            <a:off x="1175904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C12F52A-C765-40F7-B8A1-CAE366853F90}" type="slidenum">
              <a: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2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621720" y="411480"/>
            <a:ext cx="10423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5F7FA"/>
                </a:solidFill>
                <a:effectLst/>
                <a:uFillTx/>
                <a:latin typeface="Aptos Display"/>
                <a:ea typeface="Aptos Display"/>
              </a:rPr>
              <a:t>From Fragmented Data to Investment Intelligence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640080" y="932760"/>
            <a:ext cx="10332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A single platform connecting engineering, analytics, visualization, optimization, and automation.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"/>
          <p:cNvSpPr/>
          <p:nvPr/>
        </p:nvSpPr>
        <p:spPr>
          <a:xfrm>
            <a:off x="640080" y="1627560"/>
            <a:ext cx="1261440" cy="767880"/>
          </a:xfrm>
          <a:prstGeom prst="roundRect">
            <a:avLst>
              <a:gd name="adj" fmla="val 8333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"/>
          <p:cNvSpPr/>
          <p:nvPr/>
        </p:nvSpPr>
        <p:spPr>
          <a:xfrm>
            <a:off x="731520" y="1737360"/>
            <a:ext cx="255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01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4"/>
          <p:cNvSpPr/>
          <p:nvPr/>
        </p:nvSpPr>
        <p:spPr>
          <a:xfrm>
            <a:off x="731520" y="1993320"/>
            <a:ext cx="1078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COLLECT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5"/>
          <p:cNvSpPr/>
          <p:nvPr/>
        </p:nvSpPr>
        <p:spPr>
          <a:xfrm>
            <a:off x="1901880" y="2011680"/>
            <a:ext cx="26496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6"/>
          <p:cNvSpPr/>
          <p:nvPr/>
        </p:nvSpPr>
        <p:spPr>
          <a:xfrm>
            <a:off x="2194560" y="1627560"/>
            <a:ext cx="1261440" cy="767880"/>
          </a:xfrm>
          <a:prstGeom prst="roundRect">
            <a:avLst>
              <a:gd name="adj" fmla="val 8333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7"/>
          <p:cNvSpPr/>
          <p:nvPr/>
        </p:nvSpPr>
        <p:spPr>
          <a:xfrm>
            <a:off x="2286000" y="1737360"/>
            <a:ext cx="255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02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8"/>
          <p:cNvSpPr/>
          <p:nvPr/>
        </p:nvSpPr>
        <p:spPr>
          <a:xfrm>
            <a:off x="2286000" y="1993320"/>
            <a:ext cx="1078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CLEAN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9"/>
          <p:cNvSpPr/>
          <p:nvPr/>
        </p:nvSpPr>
        <p:spPr>
          <a:xfrm>
            <a:off x="3456360" y="2011680"/>
            <a:ext cx="26496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0"/>
          <p:cNvSpPr/>
          <p:nvPr/>
        </p:nvSpPr>
        <p:spPr>
          <a:xfrm>
            <a:off x="3749040" y="1627560"/>
            <a:ext cx="1261440" cy="767880"/>
          </a:xfrm>
          <a:prstGeom prst="roundRect">
            <a:avLst>
              <a:gd name="adj" fmla="val 8333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1"/>
          <p:cNvSpPr/>
          <p:nvPr/>
        </p:nvSpPr>
        <p:spPr>
          <a:xfrm>
            <a:off x="3840480" y="1737360"/>
            <a:ext cx="255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03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2"/>
          <p:cNvSpPr/>
          <p:nvPr/>
        </p:nvSpPr>
        <p:spPr>
          <a:xfrm>
            <a:off x="3840480" y="1993320"/>
            <a:ext cx="1078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STORE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3"/>
          <p:cNvSpPr/>
          <p:nvPr/>
        </p:nvSpPr>
        <p:spPr>
          <a:xfrm>
            <a:off x="5010840" y="2011680"/>
            <a:ext cx="26496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4"/>
          <p:cNvSpPr/>
          <p:nvPr/>
        </p:nvSpPr>
        <p:spPr>
          <a:xfrm>
            <a:off x="5303520" y="1627560"/>
            <a:ext cx="1261440" cy="767880"/>
          </a:xfrm>
          <a:prstGeom prst="roundRect">
            <a:avLst>
              <a:gd name="adj" fmla="val 8333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5"/>
          <p:cNvSpPr/>
          <p:nvPr/>
        </p:nvSpPr>
        <p:spPr>
          <a:xfrm>
            <a:off x="5394960" y="1737360"/>
            <a:ext cx="255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04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6"/>
          <p:cNvSpPr/>
          <p:nvPr/>
        </p:nvSpPr>
        <p:spPr>
          <a:xfrm>
            <a:off x="5394960" y="1993320"/>
            <a:ext cx="1078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ANALYZE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7"/>
          <p:cNvSpPr/>
          <p:nvPr/>
        </p:nvSpPr>
        <p:spPr>
          <a:xfrm>
            <a:off x="6565320" y="2011680"/>
            <a:ext cx="26496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8"/>
          <p:cNvSpPr/>
          <p:nvPr/>
        </p:nvSpPr>
        <p:spPr>
          <a:xfrm>
            <a:off x="6858000" y="1627560"/>
            <a:ext cx="1261440" cy="767880"/>
          </a:xfrm>
          <a:prstGeom prst="roundRect">
            <a:avLst>
              <a:gd name="adj" fmla="val 8333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9"/>
          <p:cNvSpPr/>
          <p:nvPr/>
        </p:nvSpPr>
        <p:spPr>
          <a:xfrm>
            <a:off x="6949440" y="1737360"/>
            <a:ext cx="255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05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0"/>
          <p:cNvSpPr/>
          <p:nvPr/>
        </p:nvSpPr>
        <p:spPr>
          <a:xfrm>
            <a:off x="6949440" y="1993320"/>
            <a:ext cx="1078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VISUALIZE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1"/>
          <p:cNvSpPr/>
          <p:nvPr/>
        </p:nvSpPr>
        <p:spPr>
          <a:xfrm>
            <a:off x="8119800" y="2011680"/>
            <a:ext cx="26496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2"/>
          <p:cNvSpPr/>
          <p:nvPr/>
        </p:nvSpPr>
        <p:spPr>
          <a:xfrm>
            <a:off x="8412480" y="1627560"/>
            <a:ext cx="1261440" cy="767880"/>
          </a:xfrm>
          <a:prstGeom prst="roundRect">
            <a:avLst>
              <a:gd name="adj" fmla="val 8333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3"/>
          <p:cNvSpPr/>
          <p:nvPr/>
        </p:nvSpPr>
        <p:spPr>
          <a:xfrm>
            <a:off x="8503920" y="1737360"/>
            <a:ext cx="255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06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4"/>
          <p:cNvSpPr/>
          <p:nvPr/>
        </p:nvSpPr>
        <p:spPr>
          <a:xfrm>
            <a:off x="8503920" y="1993320"/>
            <a:ext cx="1078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OPTIMIZE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5"/>
          <p:cNvSpPr/>
          <p:nvPr/>
        </p:nvSpPr>
        <p:spPr>
          <a:xfrm>
            <a:off x="9674280" y="2011680"/>
            <a:ext cx="26496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6"/>
          <p:cNvSpPr/>
          <p:nvPr/>
        </p:nvSpPr>
        <p:spPr>
          <a:xfrm>
            <a:off x="9966960" y="1627560"/>
            <a:ext cx="1261440" cy="767880"/>
          </a:xfrm>
          <a:prstGeom prst="roundRect">
            <a:avLst>
              <a:gd name="adj" fmla="val 8333"/>
            </a:avLst>
          </a:prstGeom>
          <a:solidFill>
            <a:srgbClr val="102B24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7"/>
          <p:cNvSpPr/>
          <p:nvPr/>
        </p:nvSpPr>
        <p:spPr>
          <a:xfrm>
            <a:off x="10058400" y="1737360"/>
            <a:ext cx="255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07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8"/>
          <p:cNvSpPr/>
          <p:nvPr/>
        </p:nvSpPr>
        <p:spPr>
          <a:xfrm>
            <a:off x="10058400" y="1993320"/>
            <a:ext cx="1078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AUTOMATE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9"/>
          <p:cNvSpPr/>
          <p:nvPr/>
        </p:nvSpPr>
        <p:spPr>
          <a:xfrm>
            <a:off x="640080" y="2788920"/>
            <a:ext cx="10917720" cy="2514240"/>
          </a:xfrm>
          <a:prstGeom prst="roundRect">
            <a:avLst>
              <a:gd name="adj" fmla="val 4364"/>
            </a:avLst>
          </a:prstGeom>
          <a:solidFill>
            <a:srgbClr val="172337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0"/>
          <p:cNvSpPr/>
          <p:nvPr/>
        </p:nvSpPr>
        <p:spPr>
          <a:xfrm>
            <a:off x="896040" y="303588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PROJECT OBJECTIVE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1"/>
          <p:cNvSpPr/>
          <p:nvPr/>
        </p:nvSpPr>
        <p:spPr>
          <a:xfrm>
            <a:off x="896040" y="3420000"/>
            <a:ext cx="98751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Build an integrated mutual fund analytics platform that transforms raw financial datasets into interactive, risk-aware, and automatically delivered insights.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2"/>
          <p:cNvSpPr/>
          <p:nvPr/>
        </p:nvSpPr>
        <p:spPr>
          <a:xfrm>
            <a:off x="914400" y="4421160"/>
            <a:ext cx="82080" cy="82080"/>
          </a:xfrm>
          <a:prstGeom prst="ellipse">
            <a:avLst/>
          </a:prstGeom>
          <a:solidFill>
            <a:srgbClr val="4BA3FF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3"/>
          <p:cNvSpPr/>
          <p:nvPr/>
        </p:nvSpPr>
        <p:spPr>
          <a:xfrm>
            <a:off x="1078920" y="4352400"/>
            <a:ext cx="5001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Centralize data using SQLite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4"/>
          <p:cNvSpPr/>
          <p:nvPr/>
        </p:nvSpPr>
        <p:spPr>
          <a:xfrm>
            <a:off x="914400" y="4668120"/>
            <a:ext cx="82080" cy="82080"/>
          </a:xfrm>
          <a:prstGeom prst="ellipse">
            <a:avLst/>
          </a:prstGeom>
          <a:solidFill>
            <a:srgbClr val="6DD7FF"/>
          </a:solidFill>
          <a:ln w="12700">
            <a:solidFill>
              <a:srgbClr val="6D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5"/>
          <p:cNvSpPr/>
          <p:nvPr/>
        </p:nvSpPr>
        <p:spPr>
          <a:xfrm>
            <a:off x="1078920" y="4599360"/>
            <a:ext cx="5001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Enable interactive analysis through Streamlit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36"/>
          <p:cNvSpPr/>
          <p:nvPr/>
        </p:nvSpPr>
        <p:spPr>
          <a:xfrm>
            <a:off x="914400" y="4915080"/>
            <a:ext cx="82080" cy="8208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7"/>
          <p:cNvSpPr/>
          <p:nvPr/>
        </p:nvSpPr>
        <p:spPr>
          <a:xfrm>
            <a:off x="1078920" y="4846320"/>
            <a:ext cx="5001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Optimize portfolios using Monte Carlo Simulation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38"/>
          <p:cNvSpPr/>
          <p:nvPr/>
        </p:nvSpPr>
        <p:spPr>
          <a:xfrm>
            <a:off x="914400" y="5161680"/>
            <a:ext cx="82080" cy="8208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9"/>
          <p:cNvSpPr/>
          <p:nvPr/>
        </p:nvSpPr>
        <p:spPr>
          <a:xfrm>
            <a:off x="1078920" y="5093280"/>
            <a:ext cx="5001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Automate HTML report generation and email delivery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40"/>
          <p:cNvSpPr/>
          <p:nvPr/>
        </p:nvSpPr>
        <p:spPr>
          <a:xfrm>
            <a:off x="7918560" y="4160520"/>
            <a:ext cx="1416960" cy="932400"/>
          </a:xfrm>
          <a:prstGeom prst="roundRect">
            <a:avLst>
              <a:gd name="adj" fmla="val 11765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1"/>
          <p:cNvSpPr/>
          <p:nvPr/>
        </p:nvSpPr>
        <p:spPr>
          <a:xfrm>
            <a:off x="8065080" y="4316040"/>
            <a:ext cx="1124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4BA3FF"/>
                </a:solidFill>
                <a:effectLst/>
                <a:uFillTx/>
                <a:latin typeface="Aptos Display"/>
                <a:ea typeface="Aptos Display"/>
              </a:rPr>
              <a:t>10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42"/>
          <p:cNvSpPr/>
          <p:nvPr/>
        </p:nvSpPr>
        <p:spPr>
          <a:xfrm>
            <a:off x="8065080" y="4709160"/>
            <a:ext cx="1124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source datasets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43"/>
          <p:cNvSpPr/>
          <p:nvPr/>
        </p:nvSpPr>
        <p:spPr>
          <a:xfrm>
            <a:off x="9482400" y="4160520"/>
            <a:ext cx="1416960" cy="932400"/>
          </a:xfrm>
          <a:prstGeom prst="roundRect">
            <a:avLst>
              <a:gd name="adj" fmla="val 11765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4"/>
          <p:cNvSpPr/>
          <p:nvPr/>
        </p:nvSpPr>
        <p:spPr>
          <a:xfrm>
            <a:off x="9628560" y="4316040"/>
            <a:ext cx="1124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5EE6A8"/>
                </a:solidFill>
                <a:effectLst/>
                <a:uFillTx/>
                <a:latin typeface="Aptos Display"/>
                <a:ea typeface="Aptos Display"/>
              </a:rPr>
              <a:t>6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45"/>
          <p:cNvSpPr/>
          <p:nvPr/>
        </p:nvSpPr>
        <p:spPr>
          <a:xfrm>
            <a:off x="9628560" y="4709160"/>
            <a:ext cx="1124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core DB tables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sldNum" idx="7"/>
          </p:nvPr>
        </p:nvSpPr>
        <p:spPr>
          <a:xfrm>
            <a:off x="1175904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7FD6552-C604-4E27-83EE-D885028FBE1F}" type="slidenum">
              <a: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3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621720" y="411480"/>
            <a:ext cx="10423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5F7FA"/>
                </a:solidFill>
                <a:effectLst/>
                <a:uFillTx/>
                <a:latin typeface="Aptos Display"/>
                <a:ea typeface="Aptos Display"/>
              </a:rPr>
              <a:t>End-to-End System Architecture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640080" y="932760"/>
            <a:ext cx="10332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Six layers connect the data pipeline to decision support and automated delivery.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"/>
          <p:cNvSpPr/>
          <p:nvPr/>
        </p:nvSpPr>
        <p:spPr>
          <a:xfrm>
            <a:off x="932760" y="1426320"/>
            <a:ext cx="10314000" cy="520920"/>
          </a:xfrm>
          <a:prstGeom prst="roundRect">
            <a:avLst>
              <a:gd name="adj" fmla="val 21053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3"/>
          <p:cNvSpPr/>
          <p:nvPr/>
        </p:nvSpPr>
        <p:spPr>
          <a:xfrm>
            <a:off x="932760" y="1426320"/>
            <a:ext cx="118440" cy="520920"/>
          </a:xfrm>
          <a:prstGeom prst="rect">
            <a:avLst/>
          </a:prstGeom>
          <a:solidFill>
            <a:srgbClr val="4BA3FF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1216080" y="1563480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4BA3FF"/>
                </a:solidFill>
                <a:effectLst/>
                <a:uFillTx/>
                <a:latin typeface="Aptos"/>
              </a:rPr>
              <a:t>DATA SOURCES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3410640" y="1563480"/>
            <a:ext cx="74977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7DFEA"/>
                </a:solidFill>
                <a:effectLst/>
                <a:uFillTx/>
                <a:latin typeface="Aptos"/>
              </a:rPr>
              <a:t>Fund master • NAV • AUM • transactions • holdings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6"/>
          <p:cNvSpPr/>
          <p:nvPr/>
        </p:nvSpPr>
        <p:spPr>
          <a:xfrm>
            <a:off x="6089760" y="1947600"/>
            <a:ext cx="360" cy="19188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7"/>
          <p:cNvSpPr/>
          <p:nvPr/>
        </p:nvSpPr>
        <p:spPr>
          <a:xfrm>
            <a:off x="932760" y="2139840"/>
            <a:ext cx="10314000" cy="520920"/>
          </a:xfrm>
          <a:prstGeom prst="roundRect">
            <a:avLst>
              <a:gd name="adj" fmla="val 21053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8"/>
          <p:cNvSpPr/>
          <p:nvPr/>
        </p:nvSpPr>
        <p:spPr>
          <a:xfrm>
            <a:off x="932760" y="2139840"/>
            <a:ext cx="118440" cy="520920"/>
          </a:xfrm>
          <a:prstGeom prst="rect">
            <a:avLst/>
          </a:prstGeom>
          <a:solidFill>
            <a:srgbClr val="6DD7FF"/>
          </a:solidFill>
          <a:ln w="12700">
            <a:solidFill>
              <a:srgbClr val="6D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9"/>
          <p:cNvSpPr/>
          <p:nvPr/>
        </p:nvSpPr>
        <p:spPr>
          <a:xfrm>
            <a:off x="1216080" y="2277000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6DD7FF"/>
                </a:solidFill>
                <a:effectLst/>
                <a:uFillTx/>
                <a:latin typeface="Aptos"/>
              </a:rPr>
              <a:t>ETL / PROCESSING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0"/>
          <p:cNvSpPr/>
          <p:nvPr/>
        </p:nvSpPr>
        <p:spPr>
          <a:xfrm>
            <a:off x="3410640" y="2277000"/>
            <a:ext cx="74977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7DFEA"/>
                </a:solidFill>
                <a:effectLst/>
                <a:uFillTx/>
                <a:latin typeface="Aptos"/>
              </a:rPr>
              <a:t>Clean • validate • transform • prepare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1"/>
          <p:cNvSpPr/>
          <p:nvPr/>
        </p:nvSpPr>
        <p:spPr>
          <a:xfrm>
            <a:off x="6089760" y="2660760"/>
            <a:ext cx="360" cy="19188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2"/>
          <p:cNvSpPr/>
          <p:nvPr/>
        </p:nvSpPr>
        <p:spPr>
          <a:xfrm>
            <a:off x="932760" y="2853000"/>
            <a:ext cx="10314000" cy="520920"/>
          </a:xfrm>
          <a:prstGeom prst="roundRect">
            <a:avLst>
              <a:gd name="adj" fmla="val 21053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3"/>
          <p:cNvSpPr/>
          <p:nvPr/>
        </p:nvSpPr>
        <p:spPr>
          <a:xfrm>
            <a:off x="932760" y="2853000"/>
            <a:ext cx="118440" cy="520920"/>
          </a:xfrm>
          <a:prstGeom prst="rect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4"/>
          <p:cNvSpPr/>
          <p:nvPr/>
        </p:nvSpPr>
        <p:spPr>
          <a:xfrm>
            <a:off x="1216080" y="2990160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SQLITE DATABASE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5"/>
          <p:cNvSpPr/>
          <p:nvPr/>
        </p:nvSpPr>
        <p:spPr>
          <a:xfrm>
            <a:off x="3410640" y="2990160"/>
            <a:ext cx="74977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7DFEA"/>
                </a:solidFill>
                <a:effectLst/>
                <a:uFillTx/>
                <a:latin typeface="Aptos"/>
              </a:rPr>
              <a:t>dim_fund • dim_date • 4 fact tables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6"/>
          <p:cNvSpPr/>
          <p:nvPr/>
        </p:nvSpPr>
        <p:spPr>
          <a:xfrm>
            <a:off x="6089760" y="3373920"/>
            <a:ext cx="360" cy="19224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7"/>
          <p:cNvSpPr/>
          <p:nvPr/>
        </p:nvSpPr>
        <p:spPr>
          <a:xfrm>
            <a:off x="932760" y="3566160"/>
            <a:ext cx="10314000" cy="520920"/>
          </a:xfrm>
          <a:prstGeom prst="roundRect">
            <a:avLst>
              <a:gd name="adj" fmla="val 21053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8"/>
          <p:cNvSpPr/>
          <p:nvPr/>
        </p:nvSpPr>
        <p:spPr>
          <a:xfrm>
            <a:off x="932760" y="3566160"/>
            <a:ext cx="118440" cy="52092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9"/>
          <p:cNvSpPr/>
          <p:nvPr/>
        </p:nvSpPr>
        <p:spPr>
          <a:xfrm>
            <a:off x="1216080" y="3703320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C857"/>
                </a:solidFill>
                <a:effectLst/>
                <a:uFillTx/>
                <a:latin typeface="Aptos"/>
              </a:rPr>
              <a:t>ANALYTICS LAYER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0"/>
          <p:cNvSpPr/>
          <p:nvPr/>
        </p:nvSpPr>
        <p:spPr>
          <a:xfrm>
            <a:off x="3410640" y="3703320"/>
            <a:ext cx="74977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7DFEA"/>
                </a:solidFill>
                <a:effectLst/>
                <a:uFillTx/>
                <a:latin typeface="Aptos"/>
              </a:rPr>
              <a:t>KPIs • performance • risk • portfolio metrics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1"/>
          <p:cNvSpPr/>
          <p:nvPr/>
        </p:nvSpPr>
        <p:spPr>
          <a:xfrm>
            <a:off x="6089760" y="4087080"/>
            <a:ext cx="360" cy="19224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2"/>
          <p:cNvSpPr/>
          <p:nvPr/>
        </p:nvSpPr>
        <p:spPr>
          <a:xfrm>
            <a:off x="932760" y="4279320"/>
            <a:ext cx="10314000" cy="520920"/>
          </a:xfrm>
          <a:prstGeom prst="roundRect">
            <a:avLst>
              <a:gd name="adj" fmla="val 21053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3"/>
          <p:cNvSpPr/>
          <p:nvPr/>
        </p:nvSpPr>
        <p:spPr>
          <a:xfrm>
            <a:off x="932760" y="4279320"/>
            <a:ext cx="118440" cy="520920"/>
          </a:xfrm>
          <a:prstGeom prst="rect">
            <a:avLst/>
          </a:prstGeom>
          <a:solidFill>
            <a:srgbClr val="4BA3FF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4"/>
          <p:cNvSpPr/>
          <p:nvPr/>
        </p:nvSpPr>
        <p:spPr>
          <a:xfrm>
            <a:off x="1216080" y="4416480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4BA3FF"/>
                </a:solidFill>
                <a:effectLst/>
                <a:uFillTx/>
                <a:latin typeface="Aptos"/>
              </a:rPr>
              <a:t>STREAMLIT DASHBOARD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5"/>
          <p:cNvSpPr/>
          <p:nvPr/>
        </p:nvSpPr>
        <p:spPr>
          <a:xfrm>
            <a:off x="3410640" y="4416480"/>
            <a:ext cx="74977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7DFEA"/>
                </a:solidFill>
                <a:effectLst/>
                <a:uFillTx/>
                <a:latin typeface="Aptos"/>
              </a:rPr>
              <a:t>Interactive exploration • filters • visual analytics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6"/>
          <p:cNvSpPr/>
          <p:nvPr/>
        </p:nvSpPr>
        <p:spPr>
          <a:xfrm>
            <a:off x="6089760" y="4800600"/>
            <a:ext cx="360" cy="19188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7"/>
          <p:cNvSpPr/>
          <p:nvPr/>
        </p:nvSpPr>
        <p:spPr>
          <a:xfrm>
            <a:off x="932760" y="4992480"/>
            <a:ext cx="10314000" cy="520920"/>
          </a:xfrm>
          <a:prstGeom prst="roundRect">
            <a:avLst>
              <a:gd name="adj" fmla="val 21053"/>
            </a:avLst>
          </a:prstGeom>
          <a:solidFill>
            <a:srgbClr val="102B24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8"/>
          <p:cNvSpPr/>
          <p:nvPr/>
        </p:nvSpPr>
        <p:spPr>
          <a:xfrm>
            <a:off x="932760" y="4992480"/>
            <a:ext cx="118440" cy="520920"/>
          </a:xfrm>
          <a:prstGeom prst="rect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9"/>
          <p:cNvSpPr/>
          <p:nvPr/>
        </p:nvSpPr>
        <p:spPr>
          <a:xfrm>
            <a:off x="1216080" y="5129640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AUTOMATION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0"/>
          <p:cNvSpPr/>
          <p:nvPr/>
        </p:nvSpPr>
        <p:spPr>
          <a:xfrm>
            <a:off x="3410640" y="5129640"/>
            <a:ext cx="74977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7DFEA"/>
                </a:solidFill>
                <a:effectLst/>
                <a:uFillTx/>
                <a:latin typeface="Aptos"/>
              </a:rPr>
              <a:t>HTML reports • Gmail SMTP • Task Scheduler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1"/>
          <p:cNvSpPr/>
          <p:nvPr/>
        </p:nvSpPr>
        <p:spPr>
          <a:xfrm>
            <a:off x="658440" y="583380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INTEGRATION LAYERS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32"/>
          <p:cNvSpPr/>
          <p:nvPr/>
        </p:nvSpPr>
        <p:spPr>
          <a:xfrm>
            <a:off x="2212920" y="5769720"/>
            <a:ext cx="1416960" cy="310680"/>
          </a:xfrm>
          <a:prstGeom prst="roundRect">
            <a:avLst>
              <a:gd name="adj" fmla="val 17647"/>
            </a:avLst>
          </a:prstGeom>
          <a:solidFill>
            <a:srgbClr val="4BA3FF">
              <a:alpha val="16000"/>
            </a:srgbClr>
          </a:solidFill>
          <a:ln w="12700">
            <a:solidFill>
              <a:srgbClr val="4BA3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3"/>
          <p:cNvSpPr/>
          <p:nvPr/>
        </p:nvSpPr>
        <p:spPr>
          <a:xfrm>
            <a:off x="2304360" y="5838480"/>
            <a:ext cx="12340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4BA3FF"/>
                </a:solidFill>
                <a:effectLst/>
                <a:uFillTx/>
                <a:latin typeface="Aptos"/>
                <a:ea typeface="Aptos"/>
              </a:rPr>
              <a:t>DATA ENGINEERING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34"/>
          <p:cNvSpPr/>
          <p:nvPr/>
        </p:nvSpPr>
        <p:spPr>
          <a:xfrm>
            <a:off x="3996000" y="5769720"/>
            <a:ext cx="1416960" cy="310680"/>
          </a:xfrm>
          <a:prstGeom prst="roundRect">
            <a:avLst>
              <a:gd name="adj" fmla="val 17647"/>
            </a:avLst>
          </a:prstGeom>
          <a:solidFill>
            <a:srgbClr val="5EE6A8">
              <a:alpha val="16000"/>
            </a:srgbClr>
          </a:solidFill>
          <a:ln w="12700">
            <a:solidFill>
              <a:srgbClr val="5EE6A8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5"/>
          <p:cNvSpPr/>
          <p:nvPr/>
        </p:nvSpPr>
        <p:spPr>
          <a:xfrm>
            <a:off x="4087440" y="5838480"/>
            <a:ext cx="12340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EE6A8"/>
                </a:solidFill>
                <a:effectLst/>
                <a:uFillTx/>
                <a:latin typeface="Aptos"/>
                <a:ea typeface="Aptos"/>
              </a:rPr>
              <a:t>DATABASE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36"/>
          <p:cNvSpPr/>
          <p:nvPr/>
        </p:nvSpPr>
        <p:spPr>
          <a:xfrm>
            <a:off x="5779080" y="5769720"/>
            <a:ext cx="1416960" cy="310680"/>
          </a:xfrm>
          <a:prstGeom prst="roundRect">
            <a:avLst>
              <a:gd name="adj" fmla="val 17647"/>
            </a:avLst>
          </a:prstGeom>
          <a:solidFill>
            <a:srgbClr val="6DD7FF">
              <a:alpha val="16000"/>
            </a:srgbClr>
          </a:solidFill>
          <a:ln w="12700">
            <a:solidFill>
              <a:srgbClr val="6DD7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7"/>
          <p:cNvSpPr/>
          <p:nvPr/>
        </p:nvSpPr>
        <p:spPr>
          <a:xfrm>
            <a:off x="5870520" y="5838480"/>
            <a:ext cx="12340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6DD7FF"/>
                </a:solidFill>
                <a:effectLst/>
                <a:uFillTx/>
                <a:latin typeface="Aptos"/>
                <a:ea typeface="Aptos"/>
              </a:rPr>
              <a:t>BI / DASHBOARD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8"/>
          <p:cNvSpPr/>
          <p:nvPr/>
        </p:nvSpPr>
        <p:spPr>
          <a:xfrm>
            <a:off x="7562160" y="5769720"/>
            <a:ext cx="1416960" cy="310680"/>
          </a:xfrm>
          <a:prstGeom prst="roundRect">
            <a:avLst>
              <a:gd name="adj" fmla="val 17647"/>
            </a:avLst>
          </a:prstGeom>
          <a:solidFill>
            <a:srgbClr val="FFC857">
              <a:alpha val="16000"/>
            </a:srgbClr>
          </a:solidFill>
          <a:ln w="12700">
            <a:solidFill>
              <a:srgbClr val="FFC857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9"/>
          <p:cNvSpPr/>
          <p:nvPr/>
        </p:nvSpPr>
        <p:spPr>
          <a:xfrm>
            <a:off x="7653600" y="5838480"/>
            <a:ext cx="12340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C857"/>
                </a:solidFill>
                <a:effectLst/>
                <a:uFillTx/>
                <a:latin typeface="Aptos"/>
                <a:ea typeface="Aptos"/>
              </a:rPr>
              <a:t>FINANCIAL ANALYTICS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40"/>
          <p:cNvSpPr/>
          <p:nvPr/>
        </p:nvSpPr>
        <p:spPr>
          <a:xfrm>
            <a:off x="9345240" y="5769720"/>
            <a:ext cx="1416960" cy="310680"/>
          </a:xfrm>
          <a:prstGeom prst="roundRect">
            <a:avLst>
              <a:gd name="adj" fmla="val 17647"/>
            </a:avLst>
          </a:prstGeom>
          <a:solidFill>
            <a:srgbClr val="FF7A90">
              <a:alpha val="16000"/>
            </a:srgbClr>
          </a:solidFill>
          <a:ln w="12700">
            <a:solidFill>
              <a:srgbClr val="FF7A9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41"/>
          <p:cNvSpPr/>
          <p:nvPr/>
        </p:nvSpPr>
        <p:spPr>
          <a:xfrm>
            <a:off x="9436680" y="5838480"/>
            <a:ext cx="12340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7A90"/>
                </a:solidFill>
                <a:effectLst/>
                <a:uFillTx/>
                <a:latin typeface="Aptos"/>
                <a:ea typeface="Aptos"/>
              </a:rPr>
              <a:t>AUTOMATION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1"/>
          <p:cNvSpPr>
            <a:spLocks noGrp="1"/>
          </p:cNvSpPr>
          <p:nvPr>
            <p:ph type="sldNum" idx="8"/>
          </p:nvPr>
        </p:nvSpPr>
        <p:spPr>
          <a:xfrm>
            <a:off x="1175904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41762A3-1E66-4FE4-9DF6-66BDE666788D}" type="slidenum">
              <a: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4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621720" y="411480"/>
            <a:ext cx="10423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5F7FA"/>
                </a:solidFill>
                <a:effectLst/>
                <a:uFillTx/>
                <a:latin typeface="Aptos Display"/>
                <a:ea typeface="Aptos Display"/>
              </a:rPr>
              <a:t>Turning Raw Financial Data into Reliable Analytics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640080" y="932760"/>
            <a:ext cx="10332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The ETL pipeline is the backbone of the platform.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640080" y="1325880"/>
            <a:ext cx="1234080" cy="310680"/>
          </a:xfrm>
          <a:prstGeom prst="roundRect">
            <a:avLst>
              <a:gd name="adj" fmla="val 17647"/>
            </a:avLst>
          </a:prstGeom>
          <a:solidFill>
            <a:srgbClr val="6DD7FF">
              <a:alpha val="16000"/>
            </a:srgbClr>
          </a:solidFill>
          <a:ln w="12700">
            <a:solidFill>
              <a:srgbClr val="6DD7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731520" y="1394640"/>
            <a:ext cx="105120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6DD7FF"/>
                </a:solidFill>
                <a:effectLst/>
                <a:uFillTx/>
                <a:latin typeface="Aptos"/>
                <a:ea typeface="Aptos"/>
              </a:rPr>
              <a:t>ETL PIPELINE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4"/>
          <p:cNvSpPr/>
          <p:nvPr/>
        </p:nvSpPr>
        <p:spPr>
          <a:xfrm>
            <a:off x="658440" y="1874520"/>
            <a:ext cx="4800240" cy="621360"/>
          </a:xfrm>
          <a:prstGeom prst="roundRect">
            <a:avLst>
              <a:gd name="adj" fmla="val 17647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5"/>
          <p:cNvSpPr/>
          <p:nvPr/>
        </p:nvSpPr>
        <p:spPr>
          <a:xfrm>
            <a:off x="822960" y="2057400"/>
            <a:ext cx="255600" cy="255600"/>
          </a:xfrm>
          <a:prstGeom prst="ellipse">
            <a:avLst/>
          </a:prstGeom>
          <a:solidFill>
            <a:srgbClr val="4BA3FF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1207080" y="202068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4BA3FF"/>
                </a:solidFill>
                <a:effectLst/>
                <a:uFillTx/>
                <a:latin typeface="Aptos"/>
              </a:rPr>
              <a:t>EXTRACT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2075760" y="2020680"/>
            <a:ext cx="3062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D7DFEA"/>
                </a:solidFill>
                <a:effectLst/>
                <a:uFillTx/>
                <a:latin typeface="Aptos"/>
              </a:rPr>
              <a:t>Load raw CSV datasets</a:t>
            </a:r>
            <a:endParaRPr lang="en-US" sz="9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8"/>
          <p:cNvSpPr/>
          <p:nvPr/>
        </p:nvSpPr>
        <p:spPr>
          <a:xfrm>
            <a:off x="658440" y="2679120"/>
            <a:ext cx="4800240" cy="621360"/>
          </a:xfrm>
          <a:prstGeom prst="roundRect">
            <a:avLst>
              <a:gd name="adj" fmla="val 17647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9"/>
          <p:cNvSpPr/>
          <p:nvPr/>
        </p:nvSpPr>
        <p:spPr>
          <a:xfrm>
            <a:off x="822960" y="2862000"/>
            <a:ext cx="255600" cy="255600"/>
          </a:xfrm>
          <a:prstGeom prst="ellipse">
            <a:avLst/>
          </a:prstGeom>
          <a:solidFill>
            <a:srgbClr val="6DD7FF"/>
          </a:solidFill>
          <a:ln w="12700">
            <a:solidFill>
              <a:srgbClr val="6D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0"/>
          <p:cNvSpPr/>
          <p:nvPr/>
        </p:nvSpPr>
        <p:spPr>
          <a:xfrm>
            <a:off x="1207080" y="282564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6DD7FF"/>
                </a:solidFill>
                <a:effectLst/>
                <a:uFillTx/>
                <a:latin typeface="Aptos"/>
              </a:rPr>
              <a:t>TRANSFORM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1"/>
          <p:cNvSpPr/>
          <p:nvPr/>
        </p:nvSpPr>
        <p:spPr>
          <a:xfrm>
            <a:off x="2075760" y="2825640"/>
            <a:ext cx="3062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D7DFEA"/>
                </a:solidFill>
                <a:effectLst/>
                <a:uFillTx/>
                <a:latin typeface="Aptos"/>
              </a:rPr>
              <a:t>Standardize, clean, map, aggregate</a:t>
            </a:r>
            <a:endParaRPr lang="en-US" sz="9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2"/>
          <p:cNvSpPr/>
          <p:nvPr/>
        </p:nvSpPr>
        <p:spPr>
          <a:xfrm>
            <a:off x="658440" y="3483720"/>
            <a:ext cx="4800240" cy="621360"/>
          </a:xfrm>
          <a:prstGeom prst="roundRect">
            <a:avLst>
              <a:gd name="adj" fmla="val 17647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3"/>
          <p:cNvSpPr/>
          <p:nvPr/>
        </p:nvSpPr>
        <p:spPr>
          <a:xfrm>
            <a:off x="822960" y="3666600"/>
            <a:ext cx="255600" cy="25560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1207080" y="363024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C857"/>
                </a:solidFill>
                <a:effectLst/>
                <a:uFillTx/>
                <a:latin typeface="Aptos"/>
              </a:rPr>
              <a:t>VALIDATE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5"/>
          <p:cNvSpPr/>
          <p:nvPr/>
        </p:nvSpPr>
        <p:spPr>
          <a:xfrm>
            <a:off x="2075760" y="3630240"/>
            <a:ext cx="3062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D7DFEA"/>
                </a:solidFill>
                <a:effectLst/>
                <a:uFillTx/>
                <a:latin typeface="Aptos"/>
              </a:rPr>
              <a:t>Remove errors, duplicates, invalid NAVs</a:t>
            </a:r>
            <a:endParaRPr lang="en-US" sz="9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6"/>
          <p:cNvSpPr/>
          <p:nvPr/>
        </p:nvSpPr>
        <p:spPr>
          <a:xfrm>
            <a:off x="658440" y="4288680"/>
            <a:ext cx="4800240" cy="621360"/>
          </a:xfrm>
          <a:prstGeom prst="roundRect">
            <a:avLst>
              <a:gd name="adj" fmla="val 17647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7"/>
          <p:cNvSpPr/>
          <p:nvPr/>
        </p:nvSpPr>
        <p:spPr>
          <a:xfrm>
            <a:off x="822960" y="4471560"/>
            <a:ext cx="255600" cy="25560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8"/>
          <p:cNvSpPr/>
          <p:nvPr/>
        </p:nvSpPr>
        <p:spPr>
          <a:xfrm>
            <a:off x="1207080" y="443484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LOAD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9"/>
          <p:cNvSpPr/>
          <p:nvPr/>
        </p:nvSpPr>
        <p:spPr>
          <a:xfrm>
            <a:off x="2075760" y="4434840"/>
            <a:ext cx="3062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D7DFEA"/>
                </a:solidFill>
                <a:effectLst/>
                <a:uFillTx/>
                <a:latin typeface="Aptos"/>
              </a:rPr>
              <a:t>Store analysis-ready data in SQLite</a:t>
            </a:r>
            <a:endParaRPr lang="en-US" sz="9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20"/>
          <p:cNvSpPr/>
          <p:nvPr/>
        </p:nvSpPr>
        <p:spPr>
          <a:xfrm>
            <a:off x="5788080" y="1874520"/>
            <a:ext cx="5504400" cy="3218400"/>
          </a:xfrm>
          <a:prstGeom prst="roundRect">
            <a:avLst>
              <a:gd name="adj" fmla="val 3409"/>
            </a:avLst>
          </a:prstGeom>
          <a:solidFill>
            <a:srgbClr val="172337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1"/>
          <p:cNvSpPr/>
          <p:nvPr/>
        </p:nvSpPr>
        <p:spPr>
          <a:xfrm>
            <a:off x="6062400" y="2112120"/>
            <a:ext cx="2285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SOURCE DATASET MAP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2"/>
          <p:cNvSpPr/>
          <p:nvPr/>
        </p:nvSpPr>
        <p:spPr>
          <a:xfrm>
            <a:off x="6080760" y="2610720"/>
            <a:ext cx="82080" cy="82080"/>
          </a:xfrm>
          <a:prstGeom prst="ellipse">
            <a:avLst/>
          </a:prstGeom>
          <a:solidFill>
            <a:srgbClr val="4BA3FF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3"/>
          <p:cNvSpPr/>
          <p:nvPr/>
        </p:nvSpPr>
        <p:spPr>
          <a:xfrm>
            <a:off x="6245280" y="2541960"/>
            <a:ext cx="2166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Fund Master</a:t>
            </a:r>
            <a:endParaRPr lang="en-US" sz="8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4"/>
          <p:cNvSpPr/>
          <p:nvPr/>
        </p:nvSpPr>
        <p:spPr>
          <a:xfrm>
            <a:off x="6080760" y="3012840"/>
            <a:ext cx="82080" cy="82080"/>
          </a:xfrm>
          <a:prstGeom prst="ellipse">
            <a:avLst/>
          </a:prstGeom>
          <a:solidFill>
            <a:srgbClr val="6DD7FF"/>
          </a:solidFill>
          <a:ln w="12700">
            <a:solidFill>
              <a:srgbClr val="6D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5"/>
          <p:cNvSpPr/>
          <p:nvPr/>
        </p:nvSpPr>
        <p:spPr>
          <a:xfrm>
            <a:off x="6245280" y="2944440"/>
            <a:ext cx="2166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NAV History</a:t>
            </a:r>
            <a:endParaRPr lang="en-US" sz="8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6"/>
          <p:cNvSpPr/>
          <p:nvPr/>
        </p:nvSpPr>
        <p:spPr>
          <a:xfrm>
            <a:off x="6080760" y="3415320"/>
            <a:ext cx="82080" cy="8208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7"/>
          <p:cNvSpPr/>
          <p:nvPr/>
        </p:nvSpPr>
        <p:spPr>
          <a:xfrm>
            <a:off x="6245280" y="3346560"/>
            <a:ext cx="2166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AUM</a:t>
            </a:r>
            <a:endParaRPr lang="en-US" sz="8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8"/>
          <p:cNvSpPr/>
          <p:nvPr/>
        </p:nvSpPr>
        <p:spPr>
          <a:xfrm>
            <a:off x="6080760" y="3817800"/>
            <a:ext cx="82080" cy="8208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9"/>
          <p:cNvSpPr/>
          <p:nvPr/>
        </p:nvSpPr>
        <p:spPr>
          <a:xfrm>
            <a:off x="6245280" y="3749040"/>
            <a:ext cx="2166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Monthly SIP Inflows</a:t>
            </a:r>
            <a:endParaRPr lang="en-US" sz="8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30"/>
          <p:cNvSpPr/>
          <p:nvPr/>
        </p:nvSpPr>
        <p:spPr>
          <a:xfrm>
            <a:off x="6080760" y="4219920"/>
            <a:ext cx="82080" cy="8208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1"/>
          <p:cNvSpPr/>
          <p:nvPr/>
        </p:nvSpPr>
        <p:spPr>
          <a:xfrm>
            <a:off x="6245280" y="4151520"/>
            <a:ext cx="2166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Category Inflows</a:t>
            </a:r>
            <a:endParaRPr lang="en-US" sz="8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32"/>
          <p:cNvSpPr/>
          <p:nvPr/>
        </p:nvSpPr>
        <p:spPr>
          <a:xfrm>
            <a:off x="8677800" y="2610720"/>
            <a:ext cx="82080" cy="82080"/>
          </a:xfrm>
          <a:prstGeom prst="ellipse">
            <a:avLst/>
          </a:prstGeom>
          <a:solidFill>
            <a:srgbClr val="4BA3FF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33"/>
          <p:cNvSpPr/>
          <p:nvPr/>
        </p:nvSpPr>
        <p:spPr>
          <a:xfrm>
            <a:off x="8842320" y="2541960"/>
            <a:ext cx="2166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Industry Folio Count</a:t>
            </a:r>
            <a:endParaRPr lang="en-US" sz="8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34"/>
          <p:cNvSpPr/>
          <p:nvPr/>
        </p:nvSpPr>
        <p:spPr>
          <a:xfrm>
            <a:off x="8677800" y="3012840"/>
            <a:ext cx="82080" cy="82080"/>
          </a:xfrm>
          <a:prstGeom prst="ellipse">
            <a:avLst/>
          </a:prstGeom>
          <a:solidFill>
            <a:srgbClr val="6DD7FF"/>
          </a:solidFill>
          <a:ln w="12700">
            <a:solidFill>
              <a:srgbClr val="6D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5"/>
          <p:cNvSpPr/>
          <p:nvPr/>
        </p:nvSpPr>
        <p:spPr>
          <a:xfrm>
            <a:off x="8842320" y="2944440"/>
            <a:ext cx="2166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Scheme Performance</a:t>
            </a:r>
            <a:endParaRPr lang="en-US" sz="8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36"/>
          <p:cNvSpPr/>
          <p:nvPr/>
        </p:nvSpPr>
        <p:spPr>
          <a:xfrm>
            <a:off x="8677800" y="3415320"/>
            <a:ext cx="82080" cy="8208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37"/>
          <p:cNvSpPr/>
          <p:nvPr/>
        </p:nvSpPr>
        <p:spPr>
          <a:xfrm>
            <a:off x="8842320" y="3346560"/>
            <a:ext cx="2166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Investor Transactions</a:t>
            </a:r>
            <a:endParaRPr lang="en-US" sz="8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38"/>
          <p:cNvSpPr/>
          <p:nvPr/>
        </p:nvSpPr>
        <p:spPr>
          <a:xfrm>
            <a:off x="8677800" y="3817800"/>
            <a:ext cx="82080" cy="8208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39"/>
          <p:cNvSpPr/>
          <p:nvPr/>
        </p:nvSpPr>
        <p:spPr>
          <a:xfrm>
            <a:off x="8842320" y="3749040"/>
            <a:ext cx="2166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Portfolio Holdings</a:t>
            </a:r>
            <a:endParaRPr lang="en-US" sz="8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40"/>
          <p:cNvSpPr/>
          <p:nvPr/>
        </p:nvSpPr>
        <p:spPr>
          <a:xfrm>
            <a:off x="8677800" y="4219920"/>
            <a:ext cx="82080" cy="8208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41"/>
          <p:cNvSpPr/>
          <p:nvPr/>
        </p:nvSpPr>
        <p:spPr>
          <a:xfrm>
            <a:off x="8842320" y="4151520"/>
            <a:ext cx="2166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Benchmark Indices</a:t>
            </a:r>
            <a:endParaRPr lang="en-US" sz="8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42"/>
          <p:cNvSpPr/>
          <p:nvPr/>
        </p:nvSpPr>
        <p:spPr>
          <a:xfrm>
            <a:off x="694800" y="542232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Data quality operations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43"/>
          <p:cNvSpPr/>
          <p:nvPr/>
        </p:nvSpPr>
        <p:spPr>
          <a:xfrm>
            <a:off x="2761560" y="5367600"/>
            <a:ext cx="1444320" cy="310680"/>
          </a:xfrm>
          <a:prstGeom prst="roundRect">
            <a:avLst>
              <a:gd name="adj" fmla="val 17647"/>
            </a:avLst>
          </a:prstGeom>
          <a:solidFill>
            <a:srgbClr val="FF7A90">
              <a:alpha val="16000"/>
            </a:srgbClr>
          </a:solidFill>
          <a:ln w="12700">
            <a:solidFill>
              <a:srgbClr val="FF7A9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44"/>
          <p:cNvSpPr/>
          <p:nvPr/>
        </p:nvSpPr>
        <p:spPr>
          <a:xfrm>
            <a:off x="2853000" y="5436000"/>
            <a:ext cx="12614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7A90"/>
                </a:solidFill>
                <a:effectLst/>
                <a:uFillTx/>
                <a:latin typeface="Aptos"/>
                <a:ea typeface="Aptos"/>
              </a:rPr>
              <a:t>MISSING VALUES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45"/>
          <p:cNvSpPr/>
          <p:nvPr/>
        </p:nvSpPr>
        <p:spPr>
          <a:xfrm>
            <a:off x="4443840" y="5367600"/>
            <a:ext cx="1444320" cy="310680"/>
          </a:xfrm>
          <a:prstGeom prst="roundRect">
            <a:avLst>
              <a:gd name="adj" fmla="val 17647"/>
            </a:avLst>
          </a:prstGeom>
          <a:solidFill>
            <a:srgbClr val="4BA3FF">
              <a:alpha val="16000"/>
            </a:srgbClr>
          </a:solidFill>
          <a:ln w="12700">
            <a:solidFill>
              <a:srgbClr val="4BA3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46"/>
          <p:cNvSpPr/>
          <p:nvPr/>
        </p:nvSpPr>
        <p:spPr>
          <a:xfrm>
            <a:off x="4535280" y="5436000"/>
            <a:ext cx="12614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4BA3FF"/>
                </a:solidFill>
                <a:effectLst/>
                <a:uFillTx/>
                <a:latin typeface="Aptos"/>
                <a:ea typeface="Aptos"/>
              </a:rPr>
              <a:t>DUPLICATE REMOVAL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47"/>
          <p:cNvSpPr/>
          <p:nvPr/>
        </p:nvSpPr>
        <p:spPr>
          <a:xfrm>
            <a:off x="6126480" y="5367600"/>
            <a:ext cx="1444320" cy="310680"/>
          </a:xfrm>
          <a:prstGeom prst="roundRect">
            <a:avLst>
              <a:gd name="adj" fmla="val 17647"/>
            </a:avLst>
          </a:prstGeom>
          <a:solidFill>
            <a:srgbClr val="6DD7FF">
              <a:alpha val="16000"/>
            </a:srgbClr>
          </a:solidFill>
          <a:ln w="12700">
            <a:solidFill>
              <a:srgbClr val="6DD7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48"/>
          <p:cNvSpPr/>
          <p:nvPr/>
        </p:nvSpPr>
        <p:spPr>
          <a:xfrm>
            <a:off x="6217920" y="5436000"/>
            <a:ext cx="12614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6DD7FF"/>
                </a:solidFill>
                <a:effectLst/>
                <a:uFillTx/>
                <a:latin typeface="Aptos"/>
                <a:ea typeface="Aptos"/>
              </a:rPr>
              <a:t>DATE STANDARDIZATION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49"/>
          <p:cNvSpPr/>
          <p:nvPr/>
        </p:nvSpPr>
        <p:spPr>
          <a:xfrm>
            <a:off x="7809120" y="5367600"/>
            <a:ext cx="1444320" cy="310680"/>
          </a:xfrm>
          <a:prstGeom prst="roundRect">
            <a:avLst>
              <a:gd name="adj" fmla="val 17647"/>
            </a:avLst>
          </a:prstGeom>
          <a:solidFill>
            <a:srgbClr val="FFC857">
              <a:alpha val="16000"/>
            </a:srgbClr>
          </a:solidFill>
          <a:ln w="12700">
            <a:solidFill>
              <a:srgbClr val="FFC857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50"/>
          <p:cNvSpPr/>
          <p:nvPr/>
        </p:nvSpPr>
        <p:spPr>
          <a:xfrm>
            <a:off x="7900560" y="5436000"/>
            <a:ext cx="12614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C857"/>
                </a:solidFill>
                <a:effectLst/>
                <a:uFillTx/>
                <a:latin typeface="Aptos"/>
                <a:ea typeface="Aptos"/>
              </a:rPr>
              <a:t>INVALID NAV HANDLING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51"/>
          <p:cNvSpPr/>
          <p:nvPr/>
        </p:nvSpPr>
        <p:spPr>
          <a:xfrm>
            <a:off x="9491400" y="5367600"/>
            <a:ext cx="1444320" cy="310680"/>
          </a:xfrm>
          <a:prstGeom prst="roundRect">
            <a:avLst>
              <a:gd name="adj" fmla="val 17647"/>
            </a:avLst>
          </a:prstGeom>
          <a:solidFill>
            <a:srgbClr val="5EE6A8">
              <a:alpha val="16000"/>
            </a:srgbClr>
          </a:solidFill>
          <a:ln w="12700">
            <a:solidFill>
              <a:srgbClr val="5EE6A8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52"/>
          <p:cNvSpPr/>
          <p:nvPr/>
        </p:nvSpPr>
        <p:spPr>
          <a:xfrm>
            <a:off x="9582840" y="5436000"/>
            <a:ext cx="12614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EE6A8"/>
                </a:solidFill>
                <a:effectLst/>
                <a:uFillTx/>
                <a:latin typeface="Aptos"/>
                <a:ea typeface="Aptos"/>
              </a:rPr>
              <a:t>TRANSACTION CATEGORIES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1"/>
          <p:cNvSpPr>
            <a:spLocks noGrp="1"/>
          </p:cNvSpPr>
          <p:nvPr>
            <p:ph type="sldNum" idx="9"/>
          </p:nvPr>
        </p:nvSpPr>
        <p:spPr>
          <a:xfrm>
            <a:off x="1175904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45C06EA-4B5F-4C62-B25C-A6C384E98B49}" type="slidenum">
              <a: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5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 0"/>
          <p:cNvSpPr/>
          <p:nvPr/>
        </p:nvSpPr>
        <p:spPr>
          <a:xfrm>
            <a:off x="621720" y="411480"/>
            <a:ext cx="10423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5F7FA"/>
                </a:solidFill>
                <a:effectLst/>
                <a:uFillTx/>
                <a:latin typeface="Aptos Display"/>
                <a:ea typeface="Aptos Display"/>
              </a:rPr>
              <a:t>The Data Foundation: SQLite Star Schema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"/>
          <p:cNvSpPr/>
          <p:nvPr/>
        </p:nvSpPr>
        <p:spPr>
          <a:xfrm>
            <a:off x="640080" y="932760"/>
            <a:ext cx="10332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A compact relational foundation keeps analytical queries organized and reusable.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"/>
          <p:cNvSpPr/>
          <p:nvPr/>
        </p:nvSpPr>
        <p:spPr>
          <a:xfrm>
            <a:off x="4425840" y="2267640"/>
            <a:ext cx="3337200" cy="1005480"/>
          </a:xfrm>
          <a:prstGeom prst="roundRect">
            <a:avLst>
              <a:gd name="adj" fmla="val 10909"/>
            </a:avLst>
          </a:prstGeom>
          <a:solidFill>
            <a:srgbClr val="172337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3"/>
          <p:cNvSpPr/>
          <p:nvPr/>
        </p:nvSpPr>
        <p:spPr>
          <a:xfrm>
            <a:off x="4700160" y="2487240"/>
            <a:ext cx="2788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ANALYTICS CORE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4"/>
          <p:cNvSpPr/>
          <p:nvPr/>
        </p:nvSpPr>
        <p:spPr>
          <a:xfrm>
            <a:off x="914400" y="1334880"/>
            <a:ext cx="1846800" cy="685440"/>
          </a:xfrm>
          <a:prstGeom prst="roundRect">
            <a:avLst>
              <a:gd name="adj" fmla="val 16000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5"/>
          <p:cNvSpPr/>
          <p:nvPr/>
        </p:nvSpPr>
        <p:spPr>
          <a:xfrm>
            <a:off x="1024200" y="1463040"/>
            <a:ext cx="1627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4BA3FF"/>
                </a:solidFill>
                <a:effectLst/>
                <a:uFillTx/>
                <a:latin typeface="Aptos"/>
              </a:rPr>
              <a:t>dim_fund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6"/>
          <p:cNvSpPr/>
          <p:nvPr/>
        </p:nvSpPr>
        <p:spPr>
          <a:xfrm>
            <a:off x="1024200" y="1682640"/>
            <a:ext cx="16272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fund master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7"/>
          <p:cNvSpPr/>
          <p:nvPr/>
        </p:nvSpPr>
        <p:spPr>
          <a:xfrm>
            <a:off x="1837800" y="2020680"/>
            <a:ext cx="4251960" cy="246960"/>
          </a:xfrm>
          <a:prstGeom prst="line">
            <a:avLst/>
          </a:prstGeom>
          <a:ln w="12700">
            <a:solidFill>
              <a:srgbClr val="4BA3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8"/>
          <p:cNvSpPr/>
          <p:nvPr/>
        </p:nvSpPr>
        <p:spPr>
          <a:xfrm>
            <a:off x="8832960" y="1334880"/>
            <a:ext cx="1846800" cy="685440"/>
          </a:xfrm>
          <a:prstGeom prst="roundRect">
            <a:avLst>
              <a:gd name="adj" fmla="val 16000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9"/>
          <p:cNvSpPr/>
          <p:nvPr/>
        </p:nvSpPr>
        <p:spPr>
          <a:xfrm>
            <a:off x="8942760" y="1463040"/>
            <a:ext cx="1627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6DD7FF"/>
                </a:solidFill>
                <a:effectLst/>
                <a:uFillTx/>
                <a:latin typeface="Aptos"/>
              </a:rPr>
              <a:t>dim_date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0"/>
          <p:cNvSpPr/>
          <p:nvPr/>
        </p:nvSpPr>
        <p:spPr>
          <a:xfrm>
            <a:off x="8942760" y="1682640"/>
            <a:ext cx="16272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time dimension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1"/>
          <p:cNvSpPr/>
          <p:nvPr/>
        </p:nvSpPr>
        <p:spPr>
          <a:xfrm flipH="1">
            <a:off x="6089760" y="2020680"/>
            <a:ext cx="3666600" cy="246960"/>
          </a:xfrm>
          <a:prstGeom prst="line">
            <a:avLst/>
          </a:prstGeom>
          <a:ln w="12700">
            <a:solidFill>
              <a:srgbClr val="6DD7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2"/>
          <p:cNvSpPr/>
          <p:nvPr/>
        </p:nvSpPr>
        <p:spPr>
          <a:xfrm>
            <a:off x="749880" y="4169520"/>
            <a:ext cx="1846800" cy="685440"/>
          </a:xfrm>
          <a:prstGeom prst="roundRect">
            <a:avLst>
              <a:gd name="adj" fmla="val 16000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3"/>
          <p:cNvSpPr/>
          <p:nvPr/>
        </p:nvSpPr>
        <p:spPr>
          <a:xfrm>
            <a:off x="859680" y="4297680"/>
            <a:ext cx="1627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fact_nav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4"/>
          <p:cNvSpPr/>
          <p:nvPr/>
        </p:nvSpPr>
        <p:spPr>
          <a:xfrm>
            <a:off x="859680" y="4517280"/>
            <a:ext cx="16272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historical NAV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5"/>
          <p:cNvSpPr/>
          <p:nvPr/>
        </p:nvSpPr>
        <p:spPr>
          <a:xfrm flipV="1">
            <a:off x="1673280" y="2267640"/>
            <a:ext cx="4416480" cy="2587680"/>
          </a:xfrm>
          <a:prstGeom prst="line">
            <a:avLst/>
          </a:prstGeom>
          <a:ln w="12700">
            <a:solidFill>
              <a:srgbClr val="5EE6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6"/>
          <p:cNvSpPr/>
          <p:nvPr/>
        </p:nvSpPr>
        <p:spPr>
          <a:xfrm>
            <a:off x="3420000" y="4827960"/>
            <a:ext cx="1846800" cy="685440"/>
          </a:xfrm>
          <a:prstGeom prst="roundRect">
            <a:avLst>
              <a:gd name="adj" fmla="val 16000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7"/>
          <p:cNvSpPr/>
          <p:nvPr/>
        </p:nvSpPr>
        <p:spPr>
          <a:xfrm>
            <a:off x="3529440" y="4956120"/>
            <a:ext cx="1627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C857"/>
                </a:solidFill>
                <a:effectLst/>
                <a:uFillTx/>
                <a:latin typeface="Aptos"/>
              </a:rPr>
              <a:t>fact_transactions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8"/>
          <p:cNvSpPr/>
          <p:nvPr/>
        </p:nvSpPr>
        <p:spPr>
          <a:xfrm>
            <a:off x="3529440" y="5175360"/>
            <a:ext cx="16272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investor behavior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9"/>
          <p:cNvSpPr/>
          <p:nvPr/>
        </p:nvSpPr>
        <p:spPr>
          <a:xfrm flipV="1">
            <a:off x="4343400" y="2267640"/>
            <a:ext cx="1746360" cy="3246120"/>
          </a:xfrm>
          <a:prstGeom prst="line">
            <a:avLst/>
          </a:prstGeom>
          <a:ln w="12700">
            <a:solidFill>
              <a:srgbClr val="FFC85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20"/>
          <p:cNvSpPr/>
          <p:nvPr/>
        </p:nvSpPr>
        <p:spPr>
          <a:xfrm>
            <a:off x="7059240" y="4827960"/>
            <a:ext cx="1846800" cy="685440"/>
          </a:xfrm>
          <a:prstGeom prst="roundRect">
            <a:avLst>
              <a:gd name="adj" fmla="val 16000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1"/>
          <p:cNvSpPr/>
          <p:nvPr/>
        </p:nvSpPr>
        <p:spPr>
          <a:xfrm>
            <a:off x="7169040" y="4956120"/>
            <a:ext cx="1627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7A90"/>
                </a:solidFill>
                <a:effectLst/>
                <a:uFillTx/>
                <a:latin typeface="Aptos"/>
              </a:rPr>
              <a:t>fact_performance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22"/>
          <p:cNvSpPr/>
          <p:nvPr/>
        </p:nvSpPr>
        <p:spPr>
          <a:xfrm>
            <a:off x="7169040" y="5175360"/>
            <a:ext cx="16272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returns + expense ratio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23"/>
          <p:cNvSpPr/>
          <p:nvPr/>
        </p:nvSpPr>
        <p:spPr>
          <a:xfrm flipH="1" flipV="1">
            <a:off x="6089760" y="2267640"/>
            <a:ext cx="1892880" cy="3246120"/>
          </a:xfrm>
          <a:prstGeom prst="line">
            <a:avLst/>
          </a:prstGeom>
          <a:ln w="12700">
            <a:solidFill>
              <a:srgbClr val="FF7A9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4"/>
          <p:cNvSpPr/>
          <p:nvPr/>
        </p:nvSpPr>
        <p:spPr>
          <a:xfrm>
            <a:off x="9235440" y="4169520"/>
            <a:ext cx="1846800" cy="685440"/>
          </a:xfrm>
          <a:prstGeom prst="roundRect">
            <a:avLst>
              <a:gd name="adj" fmla="val 16000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5"/>
          <p:cNvSpPr/>
          <p:nvPr/>
        </p:nvSpPr>
        <p:spPr>
          <a:xfrm>
            <a:off x="9345240" y="4297680"/>
            <a:ext cx="1627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4BA3FF"/>
                </a:solidFill>
                <a:effectLst/>
                <a:uFillTx/>
                <a:latin typeface="Aptos"/>
              </a:rPr>
              <a:t>fact_aum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6"/>
          <p:cNvSpPr/>
          <p:nvPr/>
        </p:nvSpPr>
        <p:spPr>
          <a:xfrm>
            <a:off x="9345240" y="4517280"/>
            <a:ext cx="16272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asset growth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27"/>
          <p:cNvSpPr/>
          <p:nvPr/>
        </p:nvSpPr>
        <p:spPr>
          <a:xfrm flipH="1" flipV="1">
            <a:off x="6089760" y="2267640"/>
            <a:ext cx="4069080" cy="2587680"/>
          </a:xfrm>
          <a:prstGeom prst="line">
            <a:avLst/>
          </a:prstGeom>
          <a:ln w="12700">
            <a:solidFill>
              <a:srgbClr val="4BA3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8"/>
          <p:cNvSpPr/>
          <p:nvPr/>
        </p:nvSpPr>
        <p:spPr>
          <a:xfrm>
            <a:off x="859680" y="5532120"/>
            <a:ext cx="10496880" cy="456840"/>
          </a:xfrm>
          <a:prstGeom prst="roundRect">
            <a:avLst>
              <a:gd name="adj" fmla="val 24000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29"/>
          <p:cNvSpPr/>
          <p:nvPr/>
        </p:nvSpPr>
        <p:spPr>
          <a:xfrm>
            <a:off x="1069920" y="5532120"/>
            <a:ext cx="1627200" cy="310680"/>
          </a:xfrm>
          <a:prstGeom prst="roundRect">
            <a:avLst>
              <a:gd name="adj" fmla="val 17647"/>
            </a:avLst>
          </a:prstGeom>
          <a:solidFill>
            <a:srgbClr val="5EE6A8">
              <a:alpha val="16000"/>
            </a:srgbClr>
          </a:solidFill>
          <a:ln w="12700">
            <a:solidFill>
              <a:srgbClr val="5EE6A8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30"/>
          <p:cNvSpPr/>
          <p:nvPr/>
        </p:nvSpPr>
        <p:spPr>
          <a:xfrm>
            <a:off x="1161360" y="5600880"/>
            <a:ext cx="1444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EE6A8"/>
                </a:solidFill>
                <a:effectLst/>
                <a:uFillTx/>
                <a:latin typeface="Aptos"/>
                <a:ea typeface="Aptos"/>
              </a:rPr>
              <a:t>CENTRALIZED STORAGE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31"/>
          <p:cNvSpPr/>
          <p:nvPr/>
        </p:nvSpPr>
        <p:spPr>
          <a:xfrm>
            <a:off x="3063240" y="5532120"/>
            <a:ext cx="1627200" cy="310680"/>
          </a:xfrm>
          <a:prstGeom prst="roundRect">
            <a:avLst>
              <a:gd name="adj" fmla="val 17647"/>
            </a:avLst>
          </a:prstGeom>
          <a:solidFill>
            <a:srgbClr val="4BA3FF">
              <a:alpha val="16000"/>
            </a:srgbClr>
          </a:solidFill>
          <a:ln w="12700">
            <a:solidFill>
              <a:srgbClr val="4BA3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32"/>
          <p:cNvSpPr/>
          <p:nvPr/>
        </p:nvSpPr>
        <p:spPr>
          <a:xfrm>
            <a:off x="3154680" y="5600880"/>
            <a:ext cx="1444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4BA3FF"/>
                </a:solidFill>
                <a:effectLst/>
                <a:uFillTx/>
                <a:latin typeface="Aptos"/>
                <a:ea typeface="Aptos"/>
              </a:rPr>
              <a:t>REDUCED REDUNDANCY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33"/>
          <p:cNvSpPr/>
          <p:nvPr/>
        </p:nvSpPr>
        <p:spPr>
          <a:xfrm>
            <a:off x="5056560" y="5532120"/>
            <a:ext cx="1627200" cy="310680"/>
          </a:xfrm>
          <a:prstGeom prst="roundRect">
            <a:avLst>
              <a:gd name="adj" fmla="val 17647"/>
            </a:avLst>
          </a:prstGeom>
          <a:solidFill>
            <a:srgbClr val="6DD7FF">
              <a:alpha val="16000"/>
            </a:srgbClr>
          </a:solidFill>
          <a:ln w="12700">
            <a:solidFill>
              <a:srgbClr val="6DD7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34"/>
          <p:cNvSpPr/>
          <p:nvPr/>
        </p:nvSpPr>
        <p:spPr>
          <a:xfrm>
            <a:off x="5148000" y="5600880"/>
            <a:ext cx="1444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6DD7FF"/>
                </a:solidFill>
                <a:effectLst/>
                <a:uFillTx/>
                <a:latin typeface="Aptos"/>
                <a:ea typeface="Aptos"/>
              </a:rPr>
              <a:t>EFFICIENT QUERYING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35"/>
          <p:cNvSpPr/>
          <p:nvPr/>
        </p:nvSpPr>
        <p:spPr>
          <a:xfrm>
            <a:off x="7049880" y="5532120"/>
            <a:ext cx="1627200" cy="310680"/>
          </a:xfrm>
          <a:prstGeom prst="roundRect">
            <a:avLst>
              <a:gd name="adj" fmla="val 17647"/>
            </a:avLst>
          </a:prstGeom>
          <a:solidFill>
            <a:srgbClr val="FFC857">
              <a:alpha val="16000"/>
            </a:srgbClr>
          </a:solidFill>
          <a:ln w="12700">
            <a:solidFill>
              <a:srgbClr val="FFC857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6"/>
          <p:cNvSpPr/>
          <p:nvPr/>
        </p:nvSpPr>
        <p:spPr>
          <a:xfrm>
            <a:off x="7141320" y="5600880"/>
            <a:ext cx="1444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C857"/>
                </a:solidFill>
                <a:effectLst/>
                <a:uFillTx/>
                <a:latin typeface="Aptos"/>
                <a:ea typeface="Aptos"/>
              </a:rPr>
              <a:t>SCALABLE ANALYTICS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37"/>
          <p:cNvSpPr/>
          <p:nvPr/>
        </p:nvSpPr>
        <p:spPr>
          <a:xfrm>
            <a:off x="9043560" y="5532120"/>
            <a:ext cx="1627200" cy="310680"/>
          </a:xfrm>
          <a:prstGeom prst="roundRect">
            <a:avLst>
              <a:gd name="adj" fmla="val 17647"/>
            </a:avLst>
          </a:prstGeom>
          <a:solidFill>
            <a:srgbClr val="FF7A90">
              <a:alpha val="16000"/>
            </a:srgbClr>
          </a:solidFill>
          <a:ln w="12700">
            <a:solidFill>
              <a:srgbClr val="FF7A9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38"/>
          <p:cNvSpPr/>
          <p:nvPr/>
        </p:nvSpPr>
        <p:spPr>
          <a:xfrm>
            <a:off x="9135000" y="5600880"/>
            <a:ext cx="1444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7A90"/>
                </a:solidFill>
                <a:effectLst/>
                <a:uFillTx/>
                <a:latin typeface="Aptos"/>
                <a:ea typeface="Aptos"/>
              </a:rPr>
              <a:t>DASHBOARD-READY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1"/>
          <p:cNvSpPr>
            <a:spLocks noGrp="1"/>
          </p:cNvSpPr>
          <p:nvPr>
            <p:ph type="sldNum" idx="10"/>
          </p:nvPr>
        </p:nvSpPr>
        <p:spPr>
          <a:xfrm>
            <a:off x="1175904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EE03516-440F-4667-8E50-E51258EF1CCC}" type="slidenum">
              <a: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6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 0"/>
          <p:cNvSpPr/>
          <p:nvPr/>
        </p:nvSpPr>
        <p:spPr>
          <a:xfrm>
            <a:off x="621720" y="411480"/>
            <a:ext cx="10423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5F7FA"/>
                </a:solidFill>
                <a:effectLst/>
                <a:uFillTx/>
                <a:latin typeface="Aptos Display"/>
                <a:ea typeface="Aptos Display"/>
              </a:rPr>
              <a:t>Technology Stack Behind the Platform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"/>
          <p:cNvSpPr/>
          <p:nvPr/>
        </p:nvSpPr>
        <p:spPr>
          <a:xfrm>
            <a:off x="640080" y="932760"/>
            <a:ext cx="10332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The stack is intentionally lightweight, practical, and tightly integrated.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2"/>
          <p:cNvSpPr/>
          <p:nvPr/>
        </p:nvSpPr>
        <p:spPr>
          <a:xfrm>
            <a:off x="4800600" y="2075760"/>
            <a:ext cx="2148480" cy="2148480"/>
          </a:xfrm>
          <a:prstGeom prst="ellipse">
            <a:avLst/>
          </a:prstGeom>
          <a:solidFill>
            <a:srgbClr val="102233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"/>
          <p:cNvSpPr/>
          <p:nvPr/>
        </p:nvSpPr>
        <p:spPr>
          <a:xfrm>
            <a:off x="5212080" y="2660760"/>
            <a:ext cx="133452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MUTUAL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FUND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ANALYTICS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4"/>
          <p:cNvSpPr/>
          <p:nvPr/>
        </p:nvSpPr>
        <p:spPr>
          <a:xfrm>
            <a:off x="987480" y="1280160"/>
            <a:ext cx="1947240" cy="658080"/>
          </a:xfrm>
          <a:prstGeom prst="roundRect">
            <a:avLst>
              <a:gd name="adj" fmla="val 16667"/>
            </a:avLst>
          </a:prstGeom>
          <a:solidFill>
            <a:srgbClr val="121B2C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5"/>
          <p:cNvSpPr/>
          <p:nvPr/>
        </p:nvSpPr>
        <p:spPr>
          <a:xfrm>
            <a:off x="1115640" y="1408320"/>
            <a:ext cx="145800" cy="145800"/>
          </a:xfrm>
          <a:prstGeom prst="ellipse">
            <a:avLst/>
          </a:prstGeom>
          <a:solidFill>
            <a:srgbClr val="4BA3FF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6"/>
          <p:cNvSpPr/>
          <p:nvPr/>
        </p:nvSpPr>
        <p:spPr>
          <a:xfrm>
            <a:off x="1353240" y="1371600"/>
            <a:ext cx="1471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Python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7"/>
          <p:cNvSpPr/>
          <p:nvPr/>
        </p:nvSpPr>
        <p:spPr>
          <a:xfrm>
            <a:off x="1124640" y="1645920"/>
            <a:ext cx="1672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Core programming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8"/>
          <p:cNvSpPr/>
          <p:nvPr/>
        </p:nvSpPr>
        <p:spPr>
          <a:xfrm>
            <a:off x="1947600" y="1609200"/>
            <a:ext cx="3922560" cy="1536120"/>
          </a:xfrm>
          <a:prstGeom prst="line">
            <a:avLst/>
          </a:prstGeom>
          <a:ln w="12700">
            <a:solidFill>
              <a:srgbClr val="4BA3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9"/>
          <p:cNvSpPr/>
          <p:nvPr/>
        </p:nvSpPr>
        <p:spPr>
          <a:xfrm>
            <a:off x="4005000" y="1097280"/>
            <a:ext cx="1947240" cy="658080"/>
          </a:xfrm>
          <a:prstGeom prst="roundRect">
            <a:avLst>
              <a:gd name="adj" fmla="val 16667"/>
            </a:avLst>
          </a:prstGeom>
          <a:solidFill>
            <a:srgbClr val="121B2C"/>
          </a:solidFill>
          <a:ln w="12700">
            <a:solidFill>
              <a:srgbClr val="6D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0"/>
          <p:cNvSpPr/>
          <p:nvPr/>
        </p:nvSpPr>
        <p:spPr>
          <a:xfrm>
            <a:off x="4133160" y="1225440"/>
            <a:ext cx="145800" cy="145800"/>
          </a:xfrm>
          <a:prstGeom prst="ellipse">
            <a:avLst/>
          </a:prstGeom>
          <a:solidFill>
            <a:srgbClr val="6DD7FF"/>
          </a:solidFill>
          <a:ln w="12700">
            <a:solidFill>
              <a:srgbClr val="6D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1"/>
          <p:cNvSpPr/>
          <p:nvPr/>
        </p:nvSpPr>
        <p:spPr>
          <a:xfrm>
            <a:off x="4370760" y="1188720"/>
            <a:ext cx="1471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Pandas + NumPy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2"/>
          <p:cNvSpPr/>
          <p:nvPr/>
        </p:nvSpPr>
        <p:spPr>
          <a:xfrm>
            <a:off x="4142160" y="1463040"/>
            <a:ext cx="1672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Data processing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3"/>
          <p:cNvSpPr/>
          <p:nvPr/>
        </p:nvSpPr>
        <p:spPr>
          <a:xfrm>
            <a:off x="4965120" y="1426320"/>
            <a:ext cx="905040" cy="1719000"/>
          </a:xfrm>
          <a:prstGeom prst="line">
            <a:avLst/>
          </a:prstGeom>
          <a:ln w="12700">
            <a:solidFill>
              <a:srgbClr val="6DD7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4"/>
          <p:cNvSpPr/>
          <p:nvPr/>
        </p:nvSpPr>
        <p:spPr>
          <a:xfrm>
            <a:off x="8275320" y="1298520"/>
            <a:ext cx="1947240" cy="658080"/>
          </a:xfrm>
          <a:prstGeom prst="roundRect">
            <a:avLst>
              <a:gd name="adj" fmla="val 16667"/>
            </a:avLst>
          </a:prstGeom>
          <a:solidFill>
            <a:srgbClr val="121B2C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5"/>
          <p:cNvSpPr/>
          <p:nvPr/>
        </p:nvSpPr>
        <p:spPr>
          <a:xfrm>
            <a:off x="8403480" y="1426320"/>
            <a:ext cx="145800" cy="14580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6"/>
          <p:cNvSpPr/>
          <p:nvPr/>
        </p:nvSpPr>
        <p:spPr>
          <a:xfrm>
            <a:off x="8641080" y="1389960"/>
            <a:ext cx="1471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SQLite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7"/>
          <p:cNvSpPr/>
          <p:nvPr/>
        </p:nvSpPr>
        <p:spPr>
          <a:xfrm>
            <a:off x="8412480" y="1664280"/>
            <a:ext cx="1672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Database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8"/>
          <p:cNvSpPr/>
          <p:nvPr/>
        </p:nvSpPr>
        <p:spPr>
          <a:xfrm flipH="1">
            <a:off x="5870160" y="1627560"/>
            <a:ext cx="3365280" cy="1517760"/>
          </a:xfrm>
          <a:prstGeom prst="line">
            <a:avLst/>
          </a:prstGeom>
          <a:ln w="12700">
            <a:solidFill>
              <a:srgbClr val="5EE6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9"/>
          <p:cNvSpPr/>
          <p:nvPr/>
        </p:nvSpPr>
        <p:spPr>
          <a:xfrm>
            <a:off x="987480" y="3822120"/>
            <a:ext cx="1947240" cy="658080"/>
          </a:xfrm>
          <a:prstGeom prst="roundRect">
            <a:avLst>
              <a:gd name="adj" fmla="val 16667"/>
            </a:avLst>
          </a:prstGeom>
          <a:solidFill>
            <a:srgbClr val="121B2C"/>
          </a:solidFill>
          <a:ln w="12700">
            <a:solidFill>
              <a:srgbClr val="FFC8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0"/>
          <p:cNvSpPr/>
          <p:nvPr/>
        </p:nvSpPr>
        <p:spPr>
          <a:xfrm>
            <a:off x="1115640" y="3950280"/>
            <a:ext cx="145800" cy="14580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1"/>
          <p:cNvSpPr/>
          <p:nvPr/>
        </p:nvSpPr>
        <p:spPr>
          <a:xfrm>
            <a:off x="1353240" y="3913560"/>
            <a:ext cx="1471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Plotly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2"/>
          <p:cNvSpPr/>
          <p:nvPr/>
        </p:nvSpPr>
        <p:spPr>
          <a:xfrm>
            <a:off x="1124640" y="4187880"/>
            <a:ext cx="1672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Visualization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23"/>
          <p:cNvSpPr/>
          <p:nvPr/>
        </p:nvSpPr>
        <p:spPr>
          <a:xfrm flipV="1">
            <a:off x="1947600" y="3145320"/>
            <a:ext cx="3922560" cy="1005840"/>
          </a:xfrm>
          <a:prstGeom prst="line">
            <a:avLst/>
          </a:prstGeom>
          <a:ln w="12700">
            <a:solidFill>
              <a:srgbClr val="FFC85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24"/>
          <p:cNvSpPr/>
          <p:nvPr/>
        </p:nvSpPr>
        <p:spPr>
          <a:xfrm>
            <a:off x="3858840" y="4700160"/>
            <a:ext cx="1947240" cy="658080"/>
          </a:xfrm>
          <a:prstGeom prst="roundRect">
            <a:avLst>
              <a:gd name="adj" fmla="val 16667"/>
            </a:avLst>
          </a:prstGeom>
          <a:solidFill>
            <a:srgbClr val="121B2C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25"/>
          <p:cNvSpPr/>
          <p:nvPr/>
        </p:nvSpPr>
        <p:spPr>
          <a:xfrm>
            <a:off x="3986640" y="4827960"/>
            <a:ext cx="145800" cy="145800"/>
          </a:xfrm>
          <a:prstGeom prst="ellipse">
            <a:avLst/>
          </a:prstGeom>
          <a:solidFill>
            <a:srgbClr val="4BA3FF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6"/>
          <p:cNvSpPr/>
          <p:nvPr/>
        </p:nvSpPr>
        <p:spPr>
          <a:xfrm>
            <a:off x="4224600" y="4791600"/>
            <a:ext cx="1471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Streamlit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7"/>
          <p:cNvSpPr/>
          <p:nvPr/>
        </p:nvSpPr>
        <p:spPr>
          <a:xfrm>
            <a:off x="3996000" y="5065920"/>
            <a:ext cx="1672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Dashboard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28"/>
          <p:cNvSpPr/>
          <p:nvPr/>
        </p:nvSpPr>
        <p:spPr>
          <a:xfrm flipV="1">
            <a:off x="4818600" y="3145320"/>
            <a:ext cx="1051560" cy="1883880"/>
          </a:xfrm>
          <a:prstGeom prst="line">
            <a:avLst/>
          </a:prstGeom>
          <a:ln w="12700">
            <a:solidFill>
              <a:srgbClr val="4BA3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29"/>
          <p:cNvSpPr/>
          <p:nvPr/>
        </p:nvSpPr>
        <p:spPr>
          <a:xfrm>
            <a:off x="8174880" y="3858840"/>
            <a:ext cx="1947240" cy="658080"/>
          </a:xfrm>
          <a:prstGeom prst="roundRect">
            <a:avLst>
              <a:gd name="adj" fmla="val 16667"/>
            </a:avLst>
          </a:prstGeom>
          <a:solidFill>
            <a:srgbClr val="121B2C"/>
          </a:solidFill>
          <a:ln w="12700">
            <a:solidFill>
              <a:srgbClr val="FF7A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30"/>
          <p:cNvSpPr/>
          <p:nvPr/>
        </p:nvSpPr>
        <p:spPr>
          <a:xfrm>
            <a:off x="8302680" y="3986640"/>
            <a:ext cx="145800" cy="14580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31"/>
          <p:cNvSpPr/>
          <p:nvPr/>
        </p:nvSpPr>
        <p:spPr>
          <a:xfrm>
            <a:off x="8540640" y="3950280"/>
            <a:ext cx="1471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Gmail SMTP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32"/>
          <p:cNvSpPr/>
          <p:nvPr/>
        </p:nvSpPr>
        <p:spPr>
          <a:xfrm>
            <a:off x="8312040" y="4224600"/>
            <a:ext cx="1672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Report delivery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33"/>
          <p:cNvSpPr/>
          <p:nvPr/>
        </p:nvSpPr>
        <p:spPr>
          <a:xfrm flipH="1" flipV="1">
            <a:off x="5870160" y="3145320"/>
            <a:ext cx="3264480" cy="1042560"/>
          </a:xfrm>
          <a:prstGeom prst="line">
            <a:avLst/>
          </a:prstGeom>
          <a:ln w="12700">
            <a:solidFill>
              <a:srgbClr val="FF7A9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34"/>
          <p:cNvSpPr/>
          <p:nvPr/>
        </p:nvSpPr>
        <p:spPr>
          <a:xfrm>
            <a:off x="9162360" y="4709160"/>
            <a:ext cx="1947240" cy="658080"/>
          </a:xfrm>
          <a:prstGeom prst="roundRect">
            <a:avLst>
              <a:gd name="adj" fmla="val 16667"/>
            </a:avLst>
          </a:prstGeom>
          <a:solidFill>
            <a:srgbClr val="121B2C"/>
          </a:solidFill>
          <a:ln w="12700">
            <a:solidFill>
              <a:srgbClr val="6D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35"/>
          <p:cNvSpPr/>
          <p:nvPr/>
        </p:nvSpPr>
        <p:spPr>
          <a:xfrm>
            <a:off x="9290160" y="4837320"/>
            <a:ext cx="145800" cy="145800"/>
          </a:xfrm>
          <a:prstGeom prst="ellipse">
            <a:avLst/>
          </a:prstGeom>
          <a:solidFill>
            <a:srgbClr val="6DD7FF"/>
          </a:solidFill>
          <a:ln w="12700">
            <a:solidFill>
              <a:srgbClr val="6D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36"/>
          <p:cNvSpPr/>
          <p:nvPr/>
        </p:nvSpPr>
        <p:spPr>
          <a:xfrm>
            <a:off x="9528120" y="4800600"/>
            <a:ext cx="1471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Git + GitHub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37"/>
          <p:cNvSpPr/>
          <p:nvPr/>
        </p:nvSpPr>
        <p:spPr>
          <a:xfrm>
            <a:off x="9299520" y="5074920"/>
            <a:ext cx="1672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Version control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38"/>
          <p:cNvSpPr/>
          <p:nvPr/>
        </p:nvSpPr>
        <p:spPr>
          <a:xfrm flipH="1" flipV="1">
            <a:off x="5870160" y="3145320"/>
            <a:ext cx="4251960" cy="1892880"/>
          </a:xfrm>
          <a:prstGeom prst="line">
            <a:avLst/>
          </a:prstGeom>
          <a:ln w="12700">
            <a:solidFill>
              <a:srgbClr val="6DD7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39"/>
          <p:cNvSpPr/>
          <p:nvPr/>
        </p:nvSpPr>
        <p:spPr>
          <a:xfrm>
            <a:off x="841320" y="5157360"/>
            <a:ext cx="1947240" cy="658080"/>
          </a:xfrm>
          <a:prstGeom prst="roundRect">
            <a:avLst>
              <a:gd name="adj" fmla="val 16667"/>
            </a:avLst>
          </a:prstGeom>
          <a:solidFill>
            <a:srgbClr val="121B2C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40"/>
          <p:cNvSpPr/>
          <p:nvPr/>
        </p:nvSpPr>
        <p:spPr>
          <a:xfrm>
            <a:off x="969120" y="5285160"/>
            <a:ext cx="145800" cy="14580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41"/>
          <p:cNvSpPr/>
          <p:nvPr/>
        </p:nvSpPr>
        <p:spPr>
          <a:xfrm>
            <a:off x="1207080" y="5248800"/>
            <a:ext cx="1471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VS Code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42"/>
          <p:cNvSpPr/>
          <p:nvPr/>
        </p:nvSpPr>
        <p:spPr>
          <a:xfrm>
            <a:off x="978480" y="5523120"/>
            <a:ext cx="1672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Development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43"/>
          <p:cNvSpPr/>
          <p:nvPr/>
        </p:nvSpPr>
        <p:spPr>
          <a:xfrm flipV="1">
            <a:off x="1801080" y="3145320"/>
            <a:ext cx="4069080" cy="2341080"/>
          </a:xfrm>
          <a:prstGeom prst="line">
            <a:avLst/>
          </a:prstGeom>
          <a:ln w="12700">
            <a:solidFill>
              <a:srgbClr val="5EE6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1"/>
          <p:cNvSpPr>
            <a:spLocks noGrp="1"/>
          </p:cNvSpPr>
          <p:nvPr>
            <p:ph type="sldNum" idx="11"/>
          </p:nvPr>
        </p:nvSpPr>
        <p:spPr>
          <a:xfrm>
            <a:off x="1175904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562488F-51B7-47CB-A611-9E4763ACFFCF}" type="slidenum">
              <a: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7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 0"/>
          <p:cNvSpPr/>
          <p:nvPr/>
        </p:nvSpPr>
        <p:spPr>
          <a:xfrm>
            <a:off x="621720" y="411480"/>
            <a:ext cx="10423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5F7FA"/>
                </a:solidFill>
                <a:effectLst/>
                <a:uFillTx/>
                <a:latin typeface="Aptos Display"/>
                <a:ea typeface="Aptos Display"/>
              </a:rPr>
              <a:t>From Data to Interactive Financial Intelligence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"/>
          <p:cNvSpPr/>
          <p:nvPr/>
        </p:nvSpPr>
        <p:spPr>
          <a:xfrm>
            <a:off x="640080" y="932760"/>
            <a:ext cx="10332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A Streamlit dashboard brings the analytical modules together in one interface.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2"/>
          <p:cNvSpPr/>
          <p:nvPr/>
        </p:nvSpPr>
        <p:spPr>
          <a:xfrm>
            <a:off x="640080" y="1298520"/>
            <a:ext cx="1416960" cy="310680"/>
          </a:xfrm>
          <a:prstGeom prst="roundRect">
            <a:avLst>
              <a:gd name="adj" fmla="val 17647"/>
            </a:avLst>
          </a:prstGeom>
          <a:solidFill>
            <a:srgbClr val="5EE6A8">
              <a:alpha val="16000"/>
            </a:srgbClr>
          </a:solidFill>
          <a:ln w="12700">
            <a:solidFill>
              <a:srgbClr val="5EE6A8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3"/>
          <p:cNvSpPr/>
          <p:nvPr/>
        </p:nvSpPr>
        <p:spPr>
          <a:xfrm>
            <a:off x="731520" y="1366920"/>
            <a:ext cx="12340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EE6A8"/>
                </a:solidFill>
                <a:effectLst/>
                <a:uFillTx/>
                <a:latin typeface="Aptos"/>
                <a:ea typeface="Aptos"/>
              </a:rPr>
              <a:t>PRODUCT SHOWCASE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4"/>
          <p:cNvSpPr/>
          <p:nvPr/>
        </p:nvSpPr>
        <p:spPr>
          <a:xfrm>
            <a:off x="640080" y="1792080"/>
            <a:ext cx="7406280" cy="4224240"/>
          </a:xfrm>
          <a:prstGeom prst="roundRect">
            <a:avLst>
              <a:gd name="adj" fmla="val 2597"/>
            </a:avLst>
          </a:prstGeom>
          <a:solidFill>
            <a:srgbClr val="07111E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4" name="Image 0" descr="/mnt/data/report_imgs/image30.png"/>
          <p:cNvPicPr/>
          <p:nvPr/>
        </p:nvPicPr>
        <p:blipFill>
          <a:blip r:embed="rId3"/>
          <a:stretch/>
        </p:blipFill>
        <p:spPr>
          <a:xfrm>
            <a:off x="777240" y="1920240"/>
            <a:ext cx="7131960" cy="384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" name="Shape 5"/>
          <p:cNvSpPr/>
          <p:nvPr/>
        </p:nvSpPr>
        <p:spPr>
          <a:xfrm>
            <a:off x="8366760" y="1792080"/>
            <a:ext cx="3181680" cy="4224240"/>
          </a:xfrm>
          <a:prstGeom prst="roundRect">
            <a:avLst>
              <a:gd name="adj" fmla="val 3448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6"/>
          <p:cNvSpPr/>
          <p:nvPr/>
        </p:nvSpPr>
        <p:spPr>
          <a:xfrm>
            <a:off x="8622720" y="2066400"/>
            <a:ext cx="26514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MODULE ECOSYSTEM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7"/>
          <p:cNvSpPr/>
          <p:nvPr/>
        </p:nvSpPr>
        <p:spPr>
          <a:xfrm>
            <a:off x="8622720" y="2601360"/>
            <a:ext cx="82080" cy="8208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8"/>
          <p:cNvSpPr/>
          <p:nvPr/>
        </p:nvSpPr>
        <p:spPr>
          <a:xfrm>
            <a:off x="8787240" y="2532960"/>
            <a:ext cx="2441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Home Dashboard</a:t>
            </a:r>
            <a:endParaRPr lang="en-US" sz="9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9"/>
          <p:cNvSpPr/>
          <p:nvPr/>
        </p:nvSpPr>
        <p:spPr>
          <a:xfrm>
            <a:off x="8622720" y="3031200"/>
            <a:ext cx="82080" cy="82080"/>
          </a:xfrm>
          <a:prstGeom prst="ellipse">
            <a:avLst/>
          </a:prstGeom>
          <a:solidFill>
            <a:srgbClr val="4BA3FF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0"/>
          <p:cNvSpPr/>
          <p:nvPr/>
        </p:nvSpPr>
        <p:spPr>
          <a:xfrm>
            <a:off x="8787240" y="2962800"/>
            <a:ext cx="2441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Fund Performance</a:t>
            </a:r>
            <a:endParaRPr lang="en-US" sz="9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11"/>
          <p:cNvSpPr/>
          <p:nvPr/>
        </p:nvSpPr>
        <p:spPr>
          <a:xfrm>
            <a:off x="8622720" y="3461040"/>
            <a:ext cx="82080" cy="82080"/>
          </a:xfrm>
          <a:prstGeom prst="ellipse">
            <a:avLst/>
          </a:prstGeom>
          <a:solidFill>
            <a:srgbClr val="6DD7FF"/>
          </a:solidFill>
          <a:ln w="12700">
            <a:solidFill>
              <a:srgbClr val="6DD7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2"/>
          <p:cNvSpPr/>
          <p:nvPr/>
        </p:nvSpPr>
        <p:spPr>
          <a:xfrm>
            <a:off x="8787240" y="3392280"/>
            <a:ext cx="2441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Portfolio Optimizer</a:t>
            </a:r>
            <a:endParaRPr lang="en-US" sz="9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13"/>
          <p:cNvSpPr/>
          <p:nvPr/>
        </p:nvSpPr>
        <p:spPr>
          <a:xfrm>
            <a:off x="8622720" y="3890880"/>
            <a:ext cx="82080" cy="8208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4"/>
          <p:cNvSpPr/>
          <p:nvPr/>
        </p:nvSpPr>
        <p:spPr>
          <a:xfrm>
            <a:off x="8787240" y="3822120"/>
            <a:ext cx="2441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Investor Analytics</a:t>
            </a:r>
            <a:endParaRPr lang="en-US" sz="9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15"/>
          <p:cNvSpPr/>
          <p:nvPr/>
        </p:nvSpPr>
        <p:spPr>
          <a:xfrm>
            <a:off x="8622720" y="4320720"/>
            <a:ext cx="82080" cy="8208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6"/>
          <p:cNvSpPr/>
          <p:nvPr/>
        </p:nvSpPr>
        <p:spPr>
          <a:xfrm>
            <a:off x="8787240" y="4251960"/>
            <a:ext cx="2441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Fund Explorer</a:t>
            </a:r>
            <a:endParaRPr lang="en-US" sz="9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17"/>
          <p:cNvSpPr/>
          <p:nvPr/>
        </p:nvSpPr>
        <p:spPr>
          <a:xfrm>
            <a:off x="8622720" y="4750200"/>
            <a:ext cx="82080" cy="82080"/>
          </a:xfrm>
          <a:prstGeom prst="ellipse">
            <a:avLst/>
          </a:prstGeom>
          <a:solidFill>
            <a:srgbClr val="4BA3FF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8"/>
          <p:cNvSpPr/>
          <p:nvPr/>
        </p:nvSpPr>
        <p:spPr>
          <a:xfrm>
            <a:off x="8787240" y="4681800"/>
            <a:ext cx="2441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Data Visualization</a:t>
            </a:r>
            <a:endParaRPr lang="en-US" sz="9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9"/>
          <p:cNvSpPr/>
          <p:nvPr/>
        </p:nvSpPr>
        <p:spPr>
          <a:xfrm>
            <a:off x="8622720" y="5180040"/>
            <a:ext cx="82080" cy="8208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20"/>
          <p:cNvSpPr/>
          <p:nvPr/>
        </p:nvSpPr>
        <p:spPr>
          <a:xfrm>
            <a:off x="8787240" y="5111640"/>
            <a:ext cx="2441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Report Generation</a:t>
            </a:r>
            <a:endParaRPr lang="en-US" sz="9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21"/>
          <p:cNvSpPr/>
          <p:nvPr/>
        </p:nvSpPr>
        <p:spPr>
          <a:xfrm>
            <a:off x="8622720" y="5504760"/>
            <a:ext cx="731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8C98A8"/>
                </a:solidFill>
                <a:effectLst/>
                <a:uFillTx/>
                <a:latin typeface="Aptos"/>
              </a:rPr>
              <a:t>Core UX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2"/>
          <p:cNvSpPr/>
          <p:nvPr/>
        </p:nvSpPr>
        <p:spPr>
          <a:xfrm>
            <a:off x="8622720" y="5760720"/>
            <a:ext cx="2605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D7DFEA"/>
                </a:solidFill>
                <a:effectLst/>
                <a:uFillTx/>
                <a:latin typeface="Aptos"/>
              </a:rPr>
              <a:t>Filters • KPI cards • dynamic charts • responsive navigation</a:t>
            </a:r>
            <a:endParaRPr lang="en-US" sz="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1"/>
          <p:cNvSpPr>
            <a:spLocks noGrp="1"/>
          </p:cNvSpPr>
          <p:nvPr>
            <p:ph type="sldNum" idx="12"/>
          </p:nvPr>
        </p:nvSpPr>
        <p:spPr>
          <a:xfrm>
            <a:off x="1175904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1905F33-5A04-4BE0-A2AF-9B194F4B24B4}" type="slidenum">
              <a: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8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ext 0"/>
          <p:cNvSpPr/>
          <p:nvPr/>
        </p:nvSpPr>
        <p:spPr>
          <a:xfrm>
            <a:off x="621720" y="411480"/>
            <a:ext cx="10423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5F7FA"/>
                </a:solidFill>
                <a:effectLst/>
                <a:uFillTx/>
                <a:latin typeface="Aptos Display"/>
                <a:ea typeface="Aptos Display"/>
              </a:rPr>
              <a:t>What the Platform Can Reveal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"/>
          <p:cNvSpPr/>
          <p:nvPr/>
        </p:nvSpPr>
        <p:spPr>
          <a:xfrm>
            <a:off x="640080" y="932760"/>
            <a:ext cx="10332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The dashboard is not just a front end — it is a multi-angle analytical workspace.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2"/>
          <p:cNvSpPr/>
          <p:nvPr/>
        </p:nvSpPr>
        <p:spPr>
          <a:xfrm>
            <a:off x="658440" y="1417320"/>
            <a:ext cx="5248440" cy="1892520"/>
          </a:xfrm>
          <a:prstGeom prst="roundRect">
            <a:avLst>
              <a:gd name="adj" fmla="val 5797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7" name="Image 0" descr="/mnt/data/report_imgs/image34.png"/>
          <p:cNvPicPr/>
          <p:nvPr/>
        </p:nvPicPr>
        <p:blipFill>
          <a:blip r:embed="rId3"/>
          <a:stretch/>
        </p:blipFill>
        <p:spPr>
          <a:xfrm>
            <a:off x="768240" y="1554480"/>
            <a:ext cx="2806920" cy="159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8" name="Text 3"/>
          <p:cNvSpPr/>
          <p:nvPr/>
        </p:nvSpPr>
        <p:spPr>
          <a:xfrm>
            <a:off x="3785760" y="171000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4BA3FF"/>
                </a:solidFill>
                <a:effectLst/>
                <a:uFillTx/>
                <a:latin typeface="Aptos"/>
              </a:rPr>
              <a:t>TREND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4"/>
          <p:cNvSpPr/>
          <p:nvPr/>
        </p:nvSpPr>
        <p:spPr>
          <a:xfrm>
            <a:off x="3785760" y="2075760"/>
            <a:ext cx="175536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NAV / performance movement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5"/>
          <p:cNvSpPr/>
          <p:nvPr/>
        </p:nvSpPr>
        <p:spPr>
          <a:xfrm>
            <a:off x="6309360" y="1417320"/>
            <a:ext cx="5248440" cy="1892520"/>
          </a:xfrm>
          <a:prstGeom prst="roundRect">
            <a:avLst>
              <a:gd name="adj" fmla="val 5797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1" name="Image 1" descr="/mnt/data/report_imgs/image35.png"/>
          <p:cNvPicPr/>
          <p:nvPr/>
        </p:nvPicPr>
        <p:blipFill>
          <a:blip r:embed="rId4"/>
          <a:stretch/>
        </p:blipFill>
        <p:spPr>
          <a:xfrm>
            <a:off x="6419160" y="1554480"/>
            <a:ext cx="2806920" cy="159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2" name="Text 6"/>
          <p:cNvSpPr/>
          <p:nvPr/>
        </p:nvSpPr>
        <p:spPr>
          <a:xfrm>
            <a:off x="9436680" y="171000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6DD7FF"/>
                </a:solidFill>
                <a:effectLst/>
                <a:uFillTx/>
                <a:latin typeface="Aptos"/>
              </a:rPr>
              <a:t>COMPARISON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7"/>
          <p:cNvSpPr/>
          <p:nvPr/>
        </p:nvSpPr>
        <p:spPr>
          <a:xfrm>
            <a:off x="9436680" y="2075760"/>
            <a:ext cx="175536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Fund and category perspective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8"/>
          <p:cNvSpPr/>
          <p:nvPr/>
        </p:nvSpPr>
        <p:spPr>
          <a:xfrm>
            <a:off x="658440" y="3593520"/>
            <a:ext cx="5248440" cy="1892520"/>
          </a:xfrm>
          <a:prstGeom prst="roundRect">
            <a:avLst>
              <a:gd name="adj" fmla="val 5797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5" name="Image 2" descr="/mnt/data/report_imgs/image36.png"/>
          <p:cNvPicPr/>
          <p:nvPr/>
        </p:nvPicPr>
        <p:blipFill>
          <a:blip r:embed="rId5"/>
          <a:stretch/>
        </p:blipFill>
        <p:spPr>
          <a:xfrm>
            <a:off x="768240" y="3730680"/>
            <a:ext cx="2806920" cy="159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Text 9"/>
          <p:cNvSpPr/>
          <p:nvPr/>
        </p:nvSpPr>
        <p:spPr>
          <a:xfrm>
            <a:off x="3785760" y="388620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C857"/>
                </a:solidFill>
                <a:effectLst/>
                <a:uFillTx/>
                <a:latin typeface="Aptos"/>
              </a:rPr>
              <a:t>INVESTOR BEHAVIOUR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0"/>
          <p:cNvSpPr/>
          <p:nvPr/>
        </p:nvSpPr>
        <p:spPr>
          <a:xfrm>
            <a:off x="3785760" y="4251960"/>
            <a:ext cx="175536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Transactions and demographics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1"/>
          <p:cNvSpPr/>
          <p:nvPr/>
        </p:nvSpPr>
        <p:spPr>
          <a:xfrm>
            <a:off x="6309360" y="3593520"/>
            <a:ext cx="5248440" cy="1892520"/>
          </a:xfrm>
          <a:prstGeom prst="roundRect">
            <a:avLst>
              <a:gd name="adj" fmla="val 5797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Image 3" descr="/mnt/data/report_imgs/image37.png"/>
          <p:cNvPicPr/>
          <p:nvPr/>
        </p:nvPicPr>
        <p:blipFill>
          <a:blip r:embed="rId6"/>
          <a:stretch/>
        </p:blipFill>
        <p:spPr>
          <a:xfrm>
            <a:off x="6419160" y="3730680"/>
            <a:ext cx="2806920" cy="159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0" name="Text 12"/>
          <p:cNvSpPr/>
          <p:nvPr/>
        </p:nvSpPr>
        <p:spPr>
          <a:xfrm>
            <a:off x="9436680" y="388620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INDUSTRY VIEW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3"/>
          <p:cNvSpPr/>
          <p:nvPr/>
        </p:nvSpPr>
        <p:spPr>
          <a:xfrm>
            <a:off x="9436680" y="4251960"/>
            <a:ext cx="175536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AUM / SIP / inflows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4"/>
          <p:cNvSpPr/>
          <p:nvPr/>
        </p:nvSpPr>
        <p:spPr>
          <a:xfrm>
            <a:off x="777240" y="5879520"/>
            <a:ext cx="10560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D7DFEA"/>
                </a:solidFill>
                <a:effectLst/>
                <a:uFillTx/>
                <a:latin typeface="Aptos"/>
              </a:rPr>
              <a:t>Visual reasoning replaces manual scanning: trend → comparison → behavior → industry context.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1"/>
          <p:cNvSpPr>
            <a:spLocks noGrp="1"/>
          </p:cNvSpPr>
          <p:nvPr>
            <p:ph type="sldNum" idx="13"/>
          </p:nvPr>
        </p:nvSpPr>
        <p:spPr>
          <a:xfrm>
            <a:off x="1175904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598036A-02C5-4A24-B184-D7C897794E70}" type="slidenum">
              <a: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9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ext 0"/>
          <p:cNvSpPr/>
          <p:nvPr/>
        </p:nvSpPr>
        <p:spPr>
          <a:xfrm>
            <a:off x="621720" y="411480"/>
            <a:ext cx="10423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5F7FA"/>
                </a:solidFill>
                <a:effectLst/>
                <a:uFillTx/>
                <a:latin typeface="Aptos Display"/>
                <a:ea typeface="Aptos Display"/>
              </a:rPr>
              <a:t>Portfolio Optimization: Moving from Analysis to Decision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"/>
          <p:cNvSpPr/>
          <p:nvPr/>
        </p:nvSpPr>
        <p:spPr>
          <a:xfrm>
            <a:off x="640080" y="932760"/>
            <a:ext cx="10332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Historical fund data becomes a risk-aware allocation decision.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2"/>
          <p:cNvSpPr/>
          <p:nvPr/>
        </p:nvSpPr>
        <p:spPr>
          <a:xfrm>
            <a:off x="594360" y="1499760"/>
            <a:ext cx="1572480" cy="1060200"/>
          </a:xfrm>
          <a:prstGeom prst="roundRect">
            <a:avLst>
              <a:gd name="adj" fmla="val 10345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3"/>
          <p:cNvSpPr/>
          <p:nvPr/>
        </p:nvSpPr>
        <p:spPr>
          <a:xfrm>
            <a:off x="704160" y="1627560"/>
            <a:ext cx="219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4BA3FF"/>
                </a:solidFill>
                <a:effectLst/>
                <a:uFillTx/>
                <a:latin typeface="Aptos"/>
              </a:rPr>
              <a:t>01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4"/>
          <p:cNvSpPr/>
          <p:nvPr/>
        </p:nvSpPr>
        <p:spPr>
          <a:xfrm>
            <a:off x="758880" y="1920240"/>
            <a:ext cx="12430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HISTORICAL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FUND DATA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5"/>
          <p:cNvSpPr/>
          <p:nvPr/>
        </p:nvSpPr>
        <p:spPr>
          <a:xfrm>
            <a:off x="2166840" y="2011680"/>
            <a:ext cx="24696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6"/>
          <p:cNvSpPr/>
          <p:nvPr/>
        </p:nvSpPr>
        <p:spPr>
          <a:xfrm>
            <a:off x="2468880" y="1499760"/>
            <a:ext cx="1572480" cy="1060200"/>
          </a:xfrm>
          <a:prstGeom prst="roundRect">
            <a:avLst>
              <a:gd name="adj" fmla="val 10345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7"/>
          <p:cNvSpPr/>
          <p:nvPr/>
        </p:nvSpPr>
        <p:spPr>
          <a:xfrm>
            <a:off x="2578680" y="1627560"/>
            <a:ext cx="219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DD7FF"/>
                </a:solidFill>
                <a:effectLst/>
                <a:uFillTx/>
                <a:latin typeface="Aptos"/>
              </a:rPr>
              <a:t>02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8"/>
          <p:cNvSpPr/>
          <p:nvPr/>
        </p:nvSpPr>
        <p:spPr>
          <a:xfrm>
            <a:off x="2633400" y="1920240"/>
            <a:ext cx="12430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RETURN +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VOLATILITY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9"/>
          <p:cNvSpPr/>
          <p:nvPr/>
        </p:nvSpPr>
        <p:spPr>
          <a:xfrm>
            <a:off x="4041360" y="2011680"/>
            <a:ext cx="24696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0"/>
          <p:cNvSpPr/>
          <p:nvPr/>
        </p:nvSpPr>
        <p:spPr>
          <a:xfrm>
            <a:off x="4343400" y="1499760"/>
            <a:ext cx="1572480" cy="1060200"/>
          </a:xfrm>
          <a:prstGeom prst="roundRect">
            <a:avLst>
              <a:gd name="adj" fmla="val 10345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1"/>
          <p:cNvSpPr/>
          <p:nvPr/>
        </p:nvSpPr>
        <p:spPr>
          <a:xfrm>
            <a:off x="4453200" y="1627560"/>
            <a:ext cx="219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C857"/>
                </a:solidFill>
                <a:effectLst/>
                <a:uFillTx/>
                <a:latin typeface="Aptos"/>
              </a:rPr>
              <a:t>03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2"/>
          <p:cNvSpPr/>
          <p:nvPr/>
        </p:nvSpPr>
        <p:spPr>
          <a:xfrm>
            <a:off x="4507920" y="1920240"/>
            <a:ext cx="12430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RANDOM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PORTFOLIOS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3"/>
          <p:cNvSpPr/>
          <p:nvPr/>
        </p:nvSpPr>
        <p:spPr>
          <a:xfrm>
            <a:off x="5915880" y="2011680"/>
            <a:ext cx="24696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14"/>
          <p:cNvSpPr/>
          <p:nvPr/>
        </p:nvSpPr>
        <p:spPr>
          <a:xfrm>
            <a:off x="6217920" y="1499760"/>
            <a:ext cx="1572480" cy="1060200"/>
          </a:xfrm>
          <a:prstGeom prst="roundRect">
            <a:avLst>
              <a:gd name="adj" fmla="val 10345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5"/>
          <p:cNvSpPr/>
          <p:nvPr/>
        </p:nvSpPr>
        <p:spPr>
          <a:xfrm>
            <a:off x="6327720" y="1627560"/>
            <a:ext cx="219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7A90"/>
                </a:solidFill>
                <a:effectLst/>
                <a:uFillTx/>
                <a:latin typeface="Aptos"/>
              </a:rPr>
              <a:t>04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6"/>
          <p:cNvSpPr/>
          <p:nvPr/>
        </p:nvSpPr>
        <p:spPr>
          <a:xfrm>
            <a:off x="6382440" y="1920240"/>
            <a:ext cx="12430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RISK / RETURN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EVALUATION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7"/>
          <p:cNvSpPr/>
          <p:nvPr/>
        </p:nvSpPr>
        <p:spPr>
          <a:xfrm>
            <a:off x="7790400" y="2011680"/>
            <a:ext cx="24696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8"/>
          <p:cNvSpPr/>
          <p:nvPr/>
        </p:nvSpPr>
        <p:spPr>
          <a:xfrm>
            <a:off x="8092440" y="1499760"/>
            <a:ext cx="1572480" cy="1060200"/>
          </a:xfrm>
          <a:prstGeom prst="roundRect">
            <a:avLst>
              <a:gd name="adj" fmla="val 10345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9"/>
          <p:cNvSpPr/>
          <p:nvPr/>
        </p:nvSpPr>
        <p:spPr>
          <a:xfrm>
            <a:off x="8202240" y="1627560"/>
            <a:ext cx="219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05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20"/>
          <p:cNvSpPr/>
          <p:nvPr/>
        </p:nvSpPr>
        <p:spPr>
          <a:xfrm>
            <a:off x="8256960" y="1920240"/>
            <a:ext cx="12430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SHARPE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RATIO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21"/>
          <p:cNvSpPr/>
          <p:nvPr/>
        </p:nvSpPr>
        <p:spPr>
          <a:xfrm>
            <a:off x="9664920" y="2011680"/>
            <a:ext cx="24696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22"/>
          <p:cNvSpPr/>
          <p:nvPr/>
        </p:nvSpPr>
        <p:spPr>
          <a:xfrm>
            <a:off x="9966960" y="1499760"/>
            <a:ext cx="1572480" cy="1060200"/>
          </a:xfrm>
          <a:prstGeom prst="roundRect">
            <a:avLst>
              <a:gd name="adj" fmla="val 10345"/>
            </a:avLst>
          </a:prstGeom>
          <a:solidFill>
            <a:srgbClr val="102B24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3"/>
          <p:cNvSpPr/>
          <p:nvPr/>
        </p:nvSpPr>
        <p:spPr>
          <a:xfrm>
            <a:off x="10076760" y="1627560"/>
            <a:ext cx="219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06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4"/>
          <p:cNvSpPr/>
          <p:nvPr/>
        </p:nvSpPr>
        <p:spPr>
          <a:xfrm>
            <a:off x="10131480" y="1920240"/>
            <a:ext cx="12430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OPTIMAL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ALLOCATION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25"/>
          <p:cNvSpPr/>
          <p:nvPr/>
        </p:nvSpPr>
        <p:spPr>
          <a:xfrm>
            <a:off x="658440" y="2980800"/>
            <a:ext cx="4992120" cy="2486880"/>
          </a:xfrm>
          <a:prstGeom prst="roundRect">
            <a:avLst>
              <a:gd name="adj" fmla="val 4412"/>
            </a:avLst>
          </a:prstGeom>
          <a:solidFill>
            <a:srgbClr val="172337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6"/>
          <p:cNvSpPr/>
          <p:nvPr/>
        </p:nvSpPr>
        <p:spPr>
          <a:xfrm>
            <a:off x="932760" y="325512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PORTFOLIO OUTPUT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27"/>
          <p:cNvSpPr/>
          <p:nvPr/>
        </p:nvSpPr>
        <p:spPr>
          <a:xfrm>
            <a:off x="914400" y="3657600"/>
            <a:ext cx="1371240" cy="932400"/>
          </a:xfrm>
          <a:prstGeom prst="roundRect">
            <a:avLst>
              <a:gd name="adj" fmla="val 11765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8"/>
          <p:cNvSpPr/>
          <p:nvPr/>
        </p:nvSpPr>
        <p:spPr>
          <a:xfrm>
            <a:off x="1060560" y="3813120"/>
            <a:ext cx="1078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4BA3FF"/>
                </a:solidFill>
                <a:effectLst/>
                <a:uFillTx/>
                <a:latin typeface="Aptos Display"/>
                <a:ea typeface="Aptos Display"/>
              </a:rPr>
              <a:t>Return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29"/>
          <p:cNvSpPr/>
          <p:nvPr/>
        </p:nvSpPr>
        <p:spPr>
          <a:xfrm>
            <a:off x="1060560" y="4206240"/>
            <a:ext cx="1078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expected return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30"/>
          <p:cNvSpPr/>
          <p:nvPr/>
        </p:nvSpPr>
        <p:spPr>
          <a:xfrm>
            <a:off x="2487240" y="3657600"/>
            <a:ext cx="1371240" cy="932400"/>
          </a:xfrm>
          <a:prstGeom prst="roundRect">
            <a:avLst>
              <a:gd name="adj" fmla="val 11765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31"/>
          <p:cNvSpPr/>
          <p:nvPr/>
        </p:nvSpPr>
        <p:spPr>
          <a:xfrm>
            <a:off x="2633400" y="3813120"/>
            <a:ext cx="1078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C857"/>
                </a:solidFill>
                <a:effectLst/>
                <a:uFillTx/>
                <a:latin typeface="Aptos Display"/>
                <a:ea typeface="Aptos Display"/>
              </a:rPr>
              <a:t>Risk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32"/>
          <p:cNvSpPr/>
          <p:nvPr/>
        </p:nvSpPr>
        <p:spPr>
          <a:xfrm>
            <a:off x="2633400" y="4206240"/>
            <a:ext cx="1078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volatility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33"/>
          <p:cNvSpPr/>
          <p:nvPr/>
        </p:nvSpPr>
        <p:spPr>
          <a:xfrm>
            <a:off x="4060080" y="3657600"/>
            <a:ext cx="1371240" cy="932400"/>
          </a:xfrm>
          <a:prstGeom prst="roundRect">
            <a:avLst>
              <a:gd name="adj" fmla="val 11765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34"/>
          <p:cNvSpPr/>
          <p:nvPr/>
        </p:nvSpPr>
        <p:spPr>
          <a:xfrm>
            <a:off x="4206240" y="3813120"/>
            <a:ext cx="1078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5EE6A8"/>
                </a:solidFill>
                <a:effectLst/>
                <a:uFillTx/>
                <a:latin typeface="Aptos Display"/>
                <a:ea typeface="Aptos Display"/>
              </a:rPr>
              <a:t>Sharpe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35"/>
          <p:cNvSpPr/>
          <p:nvPr/>
        </p:nvSpPr>
        <p:spPr>
          <a:xfrm>
            <a:off x="4206240" y="4206240"/>
            <a:ext cx="1078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risk-adjusted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36"/>
          <p:cNvSpPr/>
          <p:nvPr/>
        </p:nvSpPr>
        <p:spPr>
          <a:xfrm>
            <a:off x="932760" y="4864680"/>
            <a:ext cx="42973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D7DFEA"/>
                </a:solidFill>
                <a:effectLst/>
                <a:uFillTx/>
                <a:latin typeface="Aptos"/>
              </a:rPr>
              <a:t>The optimizer selects the portfolio with the strongest risk-adjusted performance based on the Sharpe Ratio.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37"/>
          <p:cNvSpPr/>
          <p:nvPr/>
        </p:nvSpPr>
        <p:spPr>
          <a:xfrm>
            <a:off x="5961960" y="2980800"/>
            <a:ext cx="5586480" cy="2486880"/>
          </a:xfrm>
          <a:prstGeom prst="roundRect">
            <a:avLst>
              <a:gd name="adj" fmla="val 4412"/>
            </a:avLst>
          </a:prstGeom>
          <a:solidFill>
            <a:srgbClr val="07111E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2" name="Image 0" descr="/mnt/data/report_imgs/image39.png"/>
          <p:cNvPicPr/>
          <p:nvPr/>
        </p:nvPicPr>
        <p:blipFill>
          <a:blip r:embed="rId3"/>
          <a:stretch/>
        </p:blipFill>
        <p:spPr>
          <a:xfrm>
            <a:off x="6089760" y="3136320"/>
            <a:ext cx="5339880" cy="213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3" name="PlaceHolder 1"/>
          <p:cNvSpPr>
            <a:spLocks noGrp="1"/>
          </p:cNvSpPr>
          <p:nvPr>
            <p:ph type="sldNum" idx="14"/>
          </p:nvPr>
        </p:nvSpPr>
        <p:spPr>
          <a:xfrm>
            <a:off x="1175904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1EFCAD9-4D38-48EA-A4ED-5D9315459428}" type="slidenum">
              <a: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10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ext 0"/>
          <p:cNvSpPr/>
          <p:nvPr/>
        </p:nvSpPr>
        <p:spPr>
          <a:xfrm>
            <a:off x="621720" y="411480"/>
            <a:ext cx="10423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5F7FA"/>
                </a:solidFill>
                <a:effectLst/>
                <a:uFillTx/>
                <a:latin typeface="Aptos Display"/>
                <a:ea typeface="Aptos Display"/>
              </a:rPr>
              <a:t>Monte Carlo Simulation: Exploring Thousands of Possibilities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"/>
          <p:cNvSpPr/>
          <p:nvPr/>
        </p:nvSpPr>
        <p:spPr>
          <a:xfrm>
            <a:off x="640080" y="932760"/>
            <a:ext cx="10332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Thousands of candidate portfolios reveal the trade-off between expected return and risk.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2"/>
          <p:cNvSpPr/>
          <p:nvPr/>
        </p:nvSpPr>
        <p:spPr>
          <a:xfrm>
            <a:off x="640080" y="1408320"/>
            <a:ext cx="7698960" cy="4334040"/>
          </a:xfrm>
          <a:prstGeom prst="roundRect">
            <a:avLst>
              <a:gd name="adj" fmla="val 2532"/>
            </a:avLst>
          </a:prstGeom>
          <a:solidFill>
            <a:srgbClr val="07111E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7" name="Image 0" descr="/mnt/data/report_imgs/image41.png"/>
          <p:cNvPicPr/>
          <p:nvPr/>
        </p:nvPicPr>
        <p:blipFill>
          <a:blip r:embed="rId3"/>
          <a:stretch/>
        </p:blipFill>
        <p:spPr>
          <a:xfrm>
            <a:off x="804600" y="1572840"/>
            <a:ext cx="7360560" cy="398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8" name="Shape 3"/>
          <p:cNvSpPr/>
          <p:nvPr/>
        </p:nvSpPr>
        <p:spPr>
          <a:xfrm>
            <a:off x="6382440" y="3703320"/>
            <a:ext cx="273960" cy="27396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F5F7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4"/>
          <p:cNvSpPr/>
          <p:nvPr/>
        </p:nvSpPr>
        <p:spPr>
          <a:xfrm>
            <a:off x="6016680" y="3273480"/>
            <a:ext cx="1279800" cy="310680"/>
          </a:xfrm>
          <a:prstGeom prst="roundRect">
            <a:avLst>
              <a:gd name="adj" fmla="val 17647"/>
            </a:avLst>
          </a:prstGeom>
          <a:solidFill>
            <a:srgbClr val="5EE6A8">
              <a:alpha val="16000"/>
            </a:srgbClr>
          </a:solidFill>
          <a:ln w="12700">
            <a:solidFill>
              <a:srgbClr val="5EE6A8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5"/>
          <p:cNvSpPr/>
          <p:nvPr/>
        </p:nvSpPr>
        <p:spPr>
          <a:xfrm>
            <a:off x="6108120" y="3342240"/>
            <a:ext cx="10969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EE6A8"/>
                </a:solidFill>
                <a:effectLst/>
                <a:uFillTx/>
                <a:latin typeface="Aptos"/>
                <a:ea typeface="Aptos"/>
              </a:rPr>
              <a:t>MAX SHARPE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6"/>
          <p:cNvSpPr/>
          <p:nvPr/>
        </p:nvSpPr>
        <p:spPr>
          <a:xfrm>
            <a:off x="8613720" y="1408320"/>
            <a:ext cx="2907360" cy="4334040"/>
          </a:xfrm>
          <a:prstGeom prst="roundRect">
            <a:avLst>
              <a:gd name="adj" fmla="val 3774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7"/>
          <p:cNvSpPr/>
          <p:nvPr/>
        </p:nvSpPr>
        <p:spPr>
          <a:xfrm>
            <a:off x="8888040" y="1719000"/>
            <a:ext cx="23954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THREE METRICS DRIVE THE SEARCH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8"/>
          <p:cNvSpPr/>
          <p:nvPr/>
        </p:nvSpPr>
        <p:spPr>
          <a:xfrm>
            <a:off x="8888040" y="2541960"/>
            <a:ext cx="2377080" cy="932400"/>
          </a:xfrm>
          <a:prstGeom prst="roundRect">
            <a:avLst>
              <a:gd name="adj" fmla="val 11765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9"/>
          <p:cNvSpPr/>
          <p:nvPr/>
        </p:nvSpPr>
        <p:spPr>
          <a:xfrm>
            <a:off x="9034200" y="2697480"/>
            <a:ext cx="2084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4BA3FF"/>
                </a:solidFill>
                <a:effectLst/>
                <a:uFillTx/>
                <a:latin typeface="Aptos Display"/>
                <a:ea typeface="Aptos Display"/>
              </a:rPr>
              <a:t>Return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10"/>
          <p:cNvSpPr/>
          <p:nvPr/>
        </p:nvSpPr>
        <p:spPr>
          <a:xfrm>
            <a:off x="9034200" y="3090600"/>
            <a:ext cx="2084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expected return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1"/>
          <p:cNvSpPr/>
          <p:nvPr/>
        </p:nvSpPr>
        <p:spPr>
          <a:xfrm>
            <a:off x="8888040" y="3639240"/>
            <a:ext cx="2377080" cy="932400"/>
          </a:xfrm>
          <a:prstGeom prst="roundRect">
            <a:avLst>
              <a:gd name="adj" fmla="val 11765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2"/>
          <p:cNvSpPr/>
          <p:nvPr/>
        </p:nvSpPr>
        <p:spPr>
          <a:xfrm>
            <a:off x="9034200" y="3794760"/>
            <a:ext cx="2084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C857"/>
                </a:solidFill>
                <a:effectLst/>
                <a:uFillTx/>
                <a:latin typeface="Aptos Display"/>
                <a:ea typeface="Aptos Display"/>
              </a:rPr>
              <a:t>Risk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3"/>
          <p:cNvSpPr/>
          <p:nvPr/>
        </p:nvSpPr>
        <p:spPr>
          <a:xfrm>
            <a:off x="9034200" y="4187880"/>
            <a:ext cx="2084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portfolio volatility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14"/>
          <p:cNvSpPr/>
          <p:nvPr/>
        </p:nvSpPr>
        <p:spPr>
          <a:xfrm>
            <a:off x="8888040" y="4736520"/>
            <a:ext cx="2377080" cy="932400"/>
          </a:xfrm>
          <a:prstGeom prst="roundRect">
            <a:avLst>
              <a:gd name="adj" fmla="val 11765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5"/>
          <p:cNvSpPr/>
          <p:nvPr/>
        </p:nvSpPr>
        <p:spPr>
          <a:xfrm>
            <a:off x="9034200" y="4892040"/>
            <a:ext cx="2084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5EE6A8"/>
                </a:solidFill>
                <a:effectLst/>
                <a:uFillTx/>
                <a:latin typeface="Aptos Display"/>
                <a:ea typeface="Aptos Display"/>
              </a:rPr>
              <a:t>Sharpe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6"/>
          <p:cNvSpPr/>
          <p:nvPr/>
        </p:nvSpPr>
        <p:spPr>
          <a:xfrm>
            <a:off x="9034200" y="5285160"/>
            <a:ext cx="2084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risk-adjusted return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1"/>
          <p:cNvSpPr>
            <a:spLocks noGrp="1"/>
          </p:cNvSpPr>
          <p:nvPr>
            <p:ph type="sldNum" idx="15"/>
          </p:nvPr>
        </p:nvSpPr>
        <p:spPr>
          <a:xfrm>
            <a:off x="1175904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1545782-6533-4F52-B299-F8FBEE1C2804}" type="slidenum">
              <a: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11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Text 0"/>
          <p:cNvSpPr/>
          <p:nvPr/>
        </p:nvSpPr>
        <p:spPr>
          <a:xfrm>
            <a:off x="621720" y="411480"/>
            <a:ext cx="10423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5F7FA"/>
                </a:solidFill>
                <a:effectLst/>
                <a:uFillTx/>
                <a:latin typeface="Aptos Display"/>
                <a:ea typeface="Aptos Display"/>
              </a:rPr>
              <a:t>Analytics That Deliver Themselves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1"/>
          <p:cNvSpPr/>
          <p:nvPr/>
        </p:nvSpPr>
        <p:spPr>
          <a:xfrm>
            <a:off x="640080" y="932760"/>
            <a:ext cx="10332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Reporting is automated from dashboard insight to scheduled email delivery.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2"/>
          <p:cNvSpPr/>
          <p:nvPr/>
        </p:nvSpPr>
        <p:spPr>
          <a:xfrm>
            <a:off x="658440" y="1481400"/>
            <a:ext cx="10881000" cy="2889000"/>
          </a:xfrm>
          <a:prstGeom prst="roundRect">
            <a:avLst>
              <a:gd name="adj" fmla="val 3797"/>
            </a:avLst>
          </a:prstGeom>
          <a:solidFill>
            <a:srgbClr val="172337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3"/>
          <p:cNvSpPr/>
          <p:nvPr/>
        </p:nvSpPr>
        <p:spPr>
          <a:xfrm>
            <a:off x="932760" y="2103120"/>
            <a:ext cx="1718640" cy="1023840"/>
          </a:xfrm>
          <a:prstGeom prst="roundRect">
            <a:avLst>
              <a:gd name="adj" fmla="val 10714"/>
            </a:avLst>
          </a:prstGeom>
          <a:solidFill>
            <a:srgbClr val="0E1725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4"/>
          <p:cNvSpPr/>
          <p:nvPr/>
        </p:nvSpPr>
        <p:spPr>
          <a:xfrm>
            <a:off x="1078920" y="2423160"/>
            <a:ext cx="1425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4BA3FF"/>
                </a:solidFill>
                <a:effectLst/>
                <a:uFillTx/>
                <a:latin typeface="Aptos"/>
              </a:rPr>
              <a:t>DASHBOARD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4BA3FF"/>
                </a:solidFill>
                <a:effectLst/>
                <a:uFillTx/>
                <a:latin typeface="Aptos"/>
              </a:rPr>
              <a:t>ANALYTICS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5"/>
          <p:cNvSpPr/>
          <p:nvPr/>
        </p:nvSpPr>
        <p:spPr>
          <a:xfrm>
            <a:off x="2651760" y="2615040"/>
            <a:ext cx="27432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6"/>
          <p:cNvSpPr/>
          <p:nvPr/>
        </p:nvSpPr>
        <p:spPr>
          <a:xfrm>
            <a:off x="3035880" y="2103120"/>
            <a:ext cx="1718640" cy="1023840"/>
          </a:xfrm>
          <a:prstGeom prst="roundRect">
            <a:avLst>
              <a:gd name="adj" fmla="val 10714"/>
            </a:avLst>
          </a:prstGeom>
          <a:solidFill>
            <a:srgbClr val="0E1725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7"/>
          <p:cNvSpPr/>
          <p:nvPr/>
        </p:nvSpPr>
        <p:spPr>
          <a:xfrm>
            <a:off x="3182040" y="2423160"/>
            <a:ext cx="1425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DD7FF"/>
                </a:solidFill>
                <a:effectLst/>
                <a:uFillTx/>
                <a:latin typeface="Aptos"/>
              </a:rPr>
              <a:t>HTML REPORT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DD7FF"/>
                </a:solidFill>
                <a:effectLst/>
                <a:uFillTx/>
                <a:latin typeface="Aptos"/>
              </a:rPr>
              <a:t>GENERATION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8"/>
          <p:cNvSpPr/>
          <p:nvPr/>
        </p:nvSpPr>
        <p:spPr>
          <a:xfrm>
            <a:off x="4754880" y="2615040"/>
            <a:ext cx="27432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9"/>
          <p:cNvSpPr/>
          <p:nvPr/>
        </p:nvSpPr>
        <p:spPr>
          <a:xfrm>
            <a:off x="5139000" y="2103120"/>
            <a:ext cx="1718640" cy="1023840"/>
          </a:xfrm>
          <a:prstGeom prst="roundRect">
            <a:avLst>
              <a:gd name="adj" fmla="val 10714"/>
            </a:avLst>
          </a:prstGeom>
          <a:solidFill>
            <a:srgbClr val="0E1725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0"/>
          <p:cNvSpPr/>
          <p:nvPr/>
        </p:nvSpPr>
        <p:spPr>
          <a:xfrm>
            <a:off x="5285160" y="2423160"/>
            <a:ext cx="1425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GMAIL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SMTP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1"/>
          <p:cNvSpPr/>
          <p:nvPr/>
        </p:nvSpPr>
        <p:spPr>
          <a:xfrm>
            <a:off x="6858000" y="2615040"/>
            <a:ext cx="27432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2"/>
          <p:cNvSpPr/>
          <p:nvPr/>
        </p:nvSpPr>
        <p:spPr>
          <a:xfrm>
            <a:off x="7242120" y="2103120"/>
            <a:ext cx="1718640" cy="1023840"/>
          </a:xfrm>
          <a:prstGeom prst="roundRect">
            <a:avLst>
              <a:gd name="adj" fmla="val 10714"/>
            </a:avLst>
          </a:prstGeom>
          <a:solidFill>
            <a:srgbClr val="0E1725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3"/>
          <p:cNvSpPr/>
          <p:nvPr/>
        </p:nvSpPr>
        <p:spPr>
          <a:xfrm>
            <a:off x="7388280" y="2423160"/>
            <a:ext cx="1425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C857"/>
                </a:solidFill>
                <a:effectLst/>
                <a:uFillTx/>
                <a:latin typeface="Aptos"/>
              </a:rPr>
              <a:t>EMAIL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C857"/>
                </a:solidFill>
                <a:effectLst/>
                <a:uFillTx/>
                <a:latin typeface="Aptos"/>
              </a:rPr>
              <a:t>DELIVERY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14"/>
          <p:cNvSpPr/>
          <p:nvPr/>
        </p:nvSpPr>
        <p:spPr>
          <a:xfrm>
            <a:off x="8961120" y="2615040"/>
            <a:ext cx="27432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5"/>
          <p:cNvSpPr/>
          <p:nvPr/>
        </p:nvSpPr>
        <p:spPr>
          <a:xfrm>
            <a:off x="9345240" y="2103120"/>
            <a:ext cx="1718640" cy="1023840"/>
          </a:xfrm>
          <a:prstGeom prst="roundRect">
            <a:avLst>
              <a:gd name="adj" fmla="val 10714"/>
            </a:avLst>
          </a:prstGeom>
          <a:solidFill>
            <a:srgbClr val="0E1725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6"/>
          <p:cNvSpPr/>
          <p:nvPr/>
        </p:nvSpPr>
        <p:spPr>
          <a:xfrm>
            <a:off x="9491400" y="2423160"/>
            <a:ext cx="1425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7A90"/>
                </a:solidFill>
                <a:effectLst/>
                <a:uFillTx/>
                <a:latin typeface="Aptos"/>
              </a:rPr>
              <a:t>TASK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7A90"/>
                </a:solidFill>
                <a:effectLst/>
                <a:uFillTx/>
                <a:latin typeface="Aptos"/>
              </a:rPr>
              <a:t>SCHEDULER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7"/>
          <p:cNvSpPr/>
          <p:nvPr/>
        </p:nvSpPr>
        <p:spPr>
          <a:xfrm>
            <a:off x="658440" y="4645080"/>
            <a:ext cx="6473520" cy="1060200"/>
          </a:xfrm>
          <a:prstGeom prst="roundRect">
            <a:avLst>
              <a:gd name="adj" fmla="val 10345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8"/>
          <p:cNvSpPr/>
          <p:nvPr/>
        </p:nvSpPr>
        <p:spPr>
          <a:xfrm>
            <a:off x="914400" y="4892040"/>
            <a:ext cx="2468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WEEKLY HTML REPORT CONTENT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19"/>
          <p:cNvSpPr/>
          <p:nvPr/>
        </p:nvSpPr>
        <p:spPr>
          <a:xfrm>
            <a:off x="3200400" y="4809600"/>
            <a:ext cx="822600" cy="310680"/>
          </a:xfrm>
          <a:prstGeom prst="roundRect">
            <a:avLst>
              <a:gd name="adj" fmla="val 17647"/>
            </a:avLst>
          </a:prstGeom>
          <a:solidFill>
            <a:srgbClr val="4BA3FF">
              <a:alpha val="16000"/>
            </a:srgbClr>
          </a:solidFill>
          <a:ln w="12700">
            <a:solidFill>
              <a:srgbClr val="4BA3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20"/>
          <p:cNvSpPr/>
          <p:nvPr/>
        </p:nvSpPr>
        <p:spPr>
          <a:xfrm>
            <a:off x="3291840" y="4878360"/>
            <a:ext cx="6397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6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4BA3FF"/>
                </a:solidFill>
                <a:effectLst/>
                <a:uFillTx/>
                <a:latin typeface="Aptos"/>
                <a:ea typeface="Aptos"/>
              </a:rPr>
              <a:t>PERFORMANCE SUMMARY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21"/>
          <p:cNvSpPr/>
          <p:nvPr/>
        </p:nvSpPr>
        <p:spPr>
          <a:xfrm>
            <a:off x="4142160" y="4809600"/>
            <a:ext cx="822600" cy="310680"/>
          </a:xfrm>
          <a:prstGeom prst="roundRect">
            <a:avLst>
              <a:gd name="adj" fmla="val 17647"/>
            </a:avLst>
          </a:prstGeom>
          <a:solidFill>
            <a:srgbClr val="5EE6A8">
              <a:alpha val="16000"/>
            </a:srgbClr>
          </a:solidFill>
          <a:ln w="12700">
            <a:solidFill>
              <a:srgbClr val="5EE6A8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22"/>
          <p:cNvSpPr/>
          <p:nvPr/>
        </p:nvSpPr>
        <p:spPr>
          <a:xfrm>
            <a:off x="4233600" y="4878360"/>
            <a:ext cx="6397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6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EE6A8"/>
                </a:solidFill>
                <a:effectLst/>
                <a:uFillTx/>
                <a:latin typeface="Aptos"/>
                <a:ea typeface="Aptos"/>
              </a:rPr>
              <a:t>PORTFOLIO INSIGHTS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23"/>
          <p:cNvSpPr/>
          <p:nvPr/>
        </p:nvSpPr>
        <p:spPr>
          <a:xfrm>
            <a:off x="5083920" y="4809600"/>
            <a:ext cx="822600" cy="310680"/>
          </a:xfrm>
          <a:prstGeom prst="roundRect">
            <a:avLst>
              <a:gd name="adj" fmla="val 17647"/>
            </a:avLst>
          </a:prstGeom>
          <a:solidFill>
            <a:srgbClr val="FFC857">
              <a:alpha val="16000"/>
            </a:srgbClr>
          </a:solidFill>
          <a:ln w="12700">
            <a:solidFill>
              <a:srgbClr val="FFC857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24"/>
          <p:cNvSpPr/>
          <p:nvPr/>
        </p:nvSpPr>
        <p:spPr>
          <a:xfrm>
            <a:off x="5175360" y="4878360"/>
            <a:ext cx="6397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6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C857"/>
                </a:solidFill>
                <a:effectLst/>
                <a:uFillTx/>
                <a:latin typeface="Aptos"/>
                <a:ea typeface="Aptos"/>
              </a:rPr>
              <a:t>AUM / NAV ANALYSIS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25"/>
          <p:cNvSpPr/>
          <p:nvPr/>
        </p:nvSpPr>
        <p:spPr>
          <a:xfrm>
            <a:off x="6026040" y="4809600"/>
            <a:ext cx="822600" cy="310680"/>
          </a:xfrm>
          <a:prstGeom prst="roundRect">
            <a:avLst>
              <a:gd name="adj" fmla="val 17647"/>
            </a:avLst>
          </a:prstGeom>
          <a:solidFill>
            <a:srgbClr val="6DD7FF">
              <a:alpha val="16000"/>
            </a:srgbClr>
          </a:solidFill>
          <a:ln w="12700">
            <a:solidFill>
              <a:srgbClr val="6DD7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26"/>
          <p:cNvSpPr/>
          <p:nvPr/>
        </p:nvSpPr>
        <p:spPr>
          <a:xfrm>
            <a:off x="6117480" y="4878360"/>
            <a:ext cx="6397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6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6DD7FF"/>
                </a:solidFill>
                <a:effectLst/>
                <a:uFillTx/>
                <a:latin typeface="Aptos"/>
                <a:ea typeface="Aptos"/>
              </a:rPr>
              <a:t>CHARTS + KEY OBSERVATIONS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27"/>
          <p:cNvSpPr/>
          <p:nvPr/>
        </p:nvSpPr>
        <p:spPr>
          <a:xfrm>
            <a:off x="7360920" y="4645080"/>
            <a:ext cx="4187520" cy="1060200"/>
          </a:xfrm>
          <a:prstGeom prst="roundRect">
            <a:avLst>
              <a:gd name="adj" fmla="val 10345"/>
            </a:avLst>
          </a:prstGeom>
          <a:solidFill>
            <a:srgbClr val="102B24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28"/>
          <p:cNvSpPr/>
          <p:nvPr/>
        </p:nvSpPr>
        <p:spPr>
          <a:xfrm>
            <a:off x="7644240" y="4901040"/>
            <a:ext cx="868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OUTCOME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29"/>
          <p:cNvSpPr/>
          <p:nvPr/>
        </p:nvSpPr>
        <p:spPr>
          <a:xfrm>
            <a:off x="8449200" y="4809600"/>
            <a:ext cx="27612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Less manual effort • consistent delivery • scheduled execution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1"/>
          <p:cNvSpPr>
            <a:spLocks noGrp="1"/>
          </p:cNvSpPr>
          <p:nvPr>
            <p:ph type="sldNum" idx="16"/>
          </p:nvPr>
        </p:nvSpPr>
        <p:spPr>
          <a:xfrm>
            <a:off x="1175904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00C9249-2CD8-4B52-9AF6-322FB3EE56A6}" type="slidenum">
              <a: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12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Text 0"/>
          <p:cNvSpPr/>
          <p:nvPr/>
        </p:nvSpPr>
        <p:spPr>
          <a:xfrm>
            <a:off x="621720" y="411480"/>
            <a:ext cx="10423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5F7FA"/>
                </a:solidFill>
                <a:effectLst/>
                <a:uFillTx/>
                <a:latin typeface="Aptos Display"/>
                <a:ea typeface="Aptos Display"/>
              </a:rPr>
              <a:t>What Was Successfully Delivered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1"/>
          <p:cNvSpPr/>
          <p:nvPr/>
        </p:nvSpPr>
        <p:spPr>
          <a:xfrm>
            <a:off x="640080" y="932760"/>
            <a:ext cx="10332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The project reached a complete end-to-end implementation across engineering, analytics, and automation.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2"/>
          <p:cNvSpPr/>
          <p:nvPr/>
        </p:nvSpPr>
        <p:spPr>
          <a:xfrm>
            <a:off x="749880" y="1481400"/>
            <a:ext cx="5047200" cy="529920"/>
          </a:xfrm>
          <a:prstGeom prst="roundRect">
            <a:avLst>
              <a:gd name="adj" fmla="val 20690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3"/>
          <p:cNvSpPr/>
          <p:nvPr/>
        </p:nvSpPr>
        <p:spPr>
          <a:xfrm>
            <a:off x="896040" y="1645920"/>
            <a:ext cx="164160" cy="16416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4"/>
          <p:cNvSpPr/>
          <p:nvPr/>
        </p:nvSpPr>
        <p:spPr>
          <a:xfrm>
            <a:off x="1188720" y="1627560"/>
            <a:ext cx="4297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ETL Pipeline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5"/>
          <p:cNvSpPr/>
          <p:nvPr/>
        </p:nvSpPr>
        <p:spPr>
          <a:xfrm>
            <a:off x="5486400" y="16185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6"/>
          <p:cNvSpPr/>
          <p:nvPr/>
        </p:nvSpPr>
        <p:spPr>
          <a:xfrm>
            <a:off x="749880" y="2194560"/>
            <a:ext cx="5047200" cy="529920"/>
          </a:xfrm>
          <a:prstGeom prst="roundRect">
            <a:avLst>
              <a:gd name="adj" fmla="val 20690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7"/>
          <p:cNvSpPr/>
          <p:nvPr/>
        </p:nvSpPr>
        <p:spPr>
          <a:xfrm>
            <a:off x="896040" y="2359080"/>
            <a:ext cx="164160" cy="16416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8"/>
          <p:cNvSpPr/>
          <p:nvPr/>
        </p:nvSpPr>
        <p:spPr>
          <a:xfrm>
            <a:off x="1188720" y="2340720"/>
            <a:ext cx="4297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SQLite Database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9"/>
          <p:cNvSpPr/>
          <p:nvPr/>
        </p:nvSpPr>
        <p:spPr>
          <a:xfrm>
            <a:off x="5486400" y="233172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10"/>
          <p:cNvSpPr/>
          <p:nvPr/>
        </p:nvSpPr>
        <p:spPr>
          <a:xfrm>
            <a:off x="749880" y="2907720"/>
            <a:ext cx="5047200" cy="529920"/>
          </a:xfrm>
          <a:prstGeom prst="roundRect">
            <a:avLst>
              <a:gd name="adj" fmla="val 20690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1"/>
          <p:cNvSpPr/>
          <p:nvPr/>
        </p:nvSpPr>
        <p:spPr>
          <a:xfrm>
            <a:off x="896040" y="3072240"/>
            <a:ext cx="164160" cy="16416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12"/>
          <p:cNvSpPr/>
          <p:nvPr/>
        </p:nvSpPr>
        <p:spPr>
          <a:xfrm>
            <a:off x="1188720" y="3054240"/>
            <a:ext cx="4297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Interactive Dashboard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3"/>
          <p:cNvSpPr/>
          <p:nvPr/>
        </p:nvSpPr>
        <p:spPr>
          <a:xfrm>
            <a:off x="5486400" y="304488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14"/>
          <p:cNvSpPr/>
          <p:nvPr/>
        </p:nvSpPr>
        <p:spPr>
          <a:xfrm>
            <a:off x="749880" y="3620880"/>
            <a:ext cx="5047200" cy="529920"/>
          </a:xfrm>
          <a:prstGeom prst="roundRect">
            <a:avLst>
              <a:gd name="adj" fmla="val 20690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15"/>
          <p:cNvSpPr/>
          <p:nvPr/>
        </p:nvSpPr>
        <p:spPr>
          <a:xfrm>
            <a:off x="896040" y="3785760"/>
            <a:ext cx="164160" cy="16416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6"/>
          <p:cNvSpPr/>
          <p:nvPr/>
        </p:nvSpPr>
        <p:spPr>
          <a:xfrm>
            <a:off x="1188720" y="3767400"/>
            <a:ext cx="4297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Financial Visualization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7"/>
          <p:cNvSpPr/>
          <p:nvPr/>
        </p:nvSpPr>
        <p:spPr>
          <a:xfrm>
            <a:off x="5486400" y="375804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18"/>
          <p:cNvSpPr/>
          <p:nvPr/>
        </p:nvSpPr>
        <p:spPr>
          <a:xfrm>
            <a:off x="749880" y="4334400"/>
            <a:ext cx="5047200" cy="529920"/>
          </a:xfrm>
          <a:prstGeom prst="roundRect">
            <a:avLst>
              <a:gd name="adj" fmla="val 20690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19"/>
          <p:cNvSpPr/>
          <p:nvPr/>
        </p:nvSpPr>
        <p:spPr>
          <a:xfrm>
            <a:off x="896040" y="4498920"/>
            <a:ext cx="164160" cy="16416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20"/>
          <p:cNvSpPr/>
          <p:nvPr/>
        </p:nvSpPr>
        <p:spPr>
          <a:xfrm>
            <a:off x="1188720" y="4480560"/>
            <a:ext cx="4297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Portfolio Optimization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21"/>
          <p:cNvSpPr/>
          <p:nvPr/>
        </p:nvSpPr>
        <p:spPr>
          <a:xfrm>
            <a:off x="5486400" y="44715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22"/>
          <p:cNvSpPr/>
          <p:nvPr/>
        </p:nvSpPr>
        <p:spPr>
          <a:xfrm>
            <a:off x="6346080" y="1481400"/>
            <a:ext cx="5047200" cy="529920"/>
          </a:xfrm>
          <a:prstGeom prst="roundRect">
            <a:avLst>
              <a:gd name="adj" fmla="val 20690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23"/>
          <p:cNvSpPr/>
          <p:nvPr/>
        </p:nvSpPr>
        <p:spPr>
          <a:xfrm>
            <a:off x="6492240" y="1645920"/>
            <a:ext cx="164160" cy="16416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24"/>
          <p:cNvSpPr/>
          <p:nvPr/>
        </p:nvSpPr>
        <p:spPr>
          <a:xfrm>
            <a:off x="6784920" y="1627560"/>
            <a:ext cx="4297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Monte Carlo Simulation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25"/>
          <p:cNvSpPr/>
          <p:nvPr/>
        </p:nvSpPr>
        <p:spPr>
          <a:xfrm>
            <a:off x="11082600" y="16185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26"/>
          <p:cNvSpPr/>
          <p:nvPr/>
        </p:nvSpPr>
        <p:spPr>
          <a:xfrm>
            <a:off x="6346080" y="2194560"/>
            <a:ext cx="5047200" cy="529920"/>
          </a:xfrm>
          <a:prstGeom prst="roundRect">
            <a:avLst>
              <a:gd name="adj" fmla="val 20690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27"/>
          <p:cNvSpPr/>
          <p:nvPr/>
        </p:nvSpPr>
        <p:spPr>
          <a:xfrm>
            <a:off x="6492240" y="2359080"/>
            <a:ext cx="164160" cy="16416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28"/>
          <p:cNvSpPr/>
          <p:nvPr/>
        </p:nvSpPr>
        <p:spPr>
          <a:xfrm>
            <a:off x="6784920" y="2340720"/>
            <a:ext cx="4297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Weekly HTML Reports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29"/>
          <p:cNvSpPr/>
          <p:nvPr/>
        </p:nvSpPr>
        <p:spPr>
          <a:xfrm>
            <a:off x="11082600" y="233172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30"/>
          <p:cNvSpPr/>
          <p:nvPr/>
        </p:nvSpPr>
        <p:spPr>
          <a:xfrm>
            <a:off x="6346080" y="2907720"/>
            <a:ext cx="5047200" cy="529920"/>
          </a:xfrm>
          <a:prstGeom prst="roundRect">
            <a:avLst>
              <a:gd name="adj" fmla="val 20690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31"/>
          <p:cNvSpPr/>
          <p:nvPr/>
        </p:nvSpPr>
        <p:spPr>
          <a:xfrm>
            <a:off x="6492240" y="3072240"/>
            <a:ext cx="164160" cy="16416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32"/>
          <p:cNvSpPr/>
          <p:nvPr/>
        </p:nvSpPr>
        <p:spPr>
          <a:xfrm>
            <a:off x="6784920" y="3054240"/>
            <a:ext cx="4297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Gmail SMTP Automation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33"/>
          <p:cNvSpPr/>
          <p:nvPr/>
        </p:nvSpPr>
        <p:spPr>
          <a:xfrm>
            <a:off x="11082600" y="304488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34"/>
          <p:cNvSpPr/>
          <p:nvPr/>
        </p:nvSpPr>
        <p:spPr>
          <a:xfrm>
            <a:off x="6346080" y="3620880"/>
            <a:ext cx="5047200" cy="529920"/>
          </a:xfrm>
          <a:prstGeom prst="roundRect">
            <a:avLst>
              <a:gd name="adj" fmla="val 20690"/>
            </a:avLst>
          </a:prstGeom>
          <a:solidFill>
            <a:srgbClr val="102B24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35"/>
          <p:cNvSpPr/>
          <p:nvPr/>
        </p:nvSpPr>
        <p:spPr>
          <a:xfrm>
            <a:off x="6492240" y="3785760"/>
            <a:ext cx="164160" cy="16416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36"/>
          <p:cNvSpPr/>
          <p:nvPr/>
        </p:nvSpPr>
        <p:spPr>
          <a:xfrm>
            <a:off x="6784920" y="3767400"/>
            <a:ext cx="4297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Windows Task Scheduler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37"/>
          <p:cNvSpPr/>
          <p:nvPr/>
        </p:nvSpPr>
        <p:spPr>
          <a:xfrm>
            <a:off x="11082600" y="375804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38"/>
          <p:cNvSpPr/>
          <p:nvPr/>
        </p:nvSpPr>
        <p:spPr>
          <a:xfrm>
            <a:off x="749880" y="5340240"/>
            <a:ext cx="10496880" cy="566640"/>
          </a:xfrm>
          <a:prstGeom prst="roundRect">
            <a:avLst>
              <a:gd name="adj" fmla="val 19355"/>
            </a:avLst>
          </a:prstGeom>
          <a:solidFill>
            <a:srgbClr val="172337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39"/>
          <p:cNvSpPr/>
          <p:nvPr/>
        </p:nvSpPr>
        <p:spPr>
          <a:xfrm>
            <a:off x="987480" y="5513760"/>
            <a:ext cx="1051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BA3FF"/>
                </a:solidFill>
                <a:effectLst/>
                <a:uFillTx/>
                <a:latin typeface="Aptos"/>
              </a:rPr>
              <a:t>RAW DATA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40"/>
          <p:cNvSpPr/>
          <p:nvPr/>
        </p:nvSpPr>
        <p:spPr>
          <a:xfrm>
            <a:off x="2084760" y="5595840"/>
            <a:ext cx="65844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41"/>
          <p:cNvSpPr/>
          <p:nvPr/>
        </p:nvSpPr>
        <p:spPr>
          <a:xfrm>
            <a:off x="2834640" y="551376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DD7FF"/>
                </a:solidFill>
                <a:effectLst/>
                <a:uFillTx/>
                <a:latin typeface="Aptos"/>
              </a:rPr>
              <a:t>RELIABLE ANALYTICS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42"/>
          <p:cNvSpPr/>
          <p:nvPr/>
        </p:nvSpPr>
        <p:spPr>
          <a:xfrm>
            <a:off x="4754880" y="5595840"/>
            <a:ext cx="65808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43"/>
          <p:cNvSpPr/>
          <p:nvPr/>
        </p:nvSpPr>
        <p:spPr>
          <a:xfrm>
            <a:off x="5486400" y="551376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INTERACTIVE DECISION SUPPORT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44"/>
          <p:cNvSpPr/>
          <p:nvPr/>
        </p:nvSpPr>
        <p:spPr>
          <a:xfrm>
            <a:off x="7845480" y="5595840"/>
            <a:ext cx="65844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45"/>
          <p:cNvSpPr/>
          <p:nvPr/>
        </p:nvSpPr>
        <p:spPr>
          <a:xfrm>
            <a:off x="8577000" y="551376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C857"/>
                </a:solidFill>
                <a:effectLst/>
                <a:uFillTx/>
                <a:latin typeface="Aptos"/>
              </a:rPr>
              <a:t>AUTOMATED DELIVERY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1"/>
          <p:cNvSpPr>
            <a:spLocks noGrp="1"/>
          </p:cNvSpPr>
          <p:nvPr>
            <p:ph type="sldNum" idx="17"/>
          </p:nvPr>
        </p:nvSpPr>
        <p:spPr>
          <a:xfrm>
            <a:off x="1175904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198B80A-46DD-46D9-B1AD-EF46B849E39D}" type="slidenum">
              <a: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13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Text 0"/>
          <p:cNvSpPr/>
          <p:nvPr/>
        </p:nvSpPr>
        <p:spPr>
          <a:xfrm>
            <a:off x="621720" y="411480"/>
            <a:ext cx="10423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5F7FA"/>
                </a:solidFill>
                <a:effectLst/>
                <a:uFillTx/>
                <a:latin typeface="Aptos Display"/>
                <a:ea typeface="Aptos Display"/>
              </a:rPr>
              <a:t>From Challenges to Capabilities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"/>
          <p:cNvSpPr/>
          <p:nvPr/>
        </p:nvSpPr>
        <p:spPr>
          <a:xfrm>
            <a:off x="640080" y="932760"/>
            <a:ext cx="10332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The build process exposed real engineering constraints — and turned them into practical learning.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2"/>
          <p:cNvSpPr/>
          <p:nvPr/>
        </p:nvSpPr>
        <p:spPr>
          <a:xfrm>
            <a:off x="658440" y="1481400"/>
            <a:ext cx="3401280" cy="4224240"/>
          </a:xfrm>
          <a:prstGeom prst="roundRect">
            <a:avLst>
              <a:gd name="adj" fmla="val 3226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3"/>
          <p:cNvSpPr/>
          <p:nvPr/>
        </p:nvSpPr>
        <p:spPr>
          <a:xfrm>
            <a:off x="914400" y="179208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7A90"/>
                </a:solidFill>
                <a:effectLst/>
                <a:uFillTx/>
                <a:latin typeface="Aptos"/>
              </a:rPr>
              <a:t>CHALLENGES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4"/>
          <p:cNvSpPr/>
          <p:nvPr/>
        </p:nvSpPr>
        <p:spPr>
          <a:xfrm>
            <a:off x="932760" y="2372760"/>
            <a:ext cx="82080" cy="8208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5"/>
          <p:cNvSpPr/>
          <p:nvPr/>
        </p:nvSpPr>
        <p:spPr>
          <a:xfrm>
            <a:off x="1097280" y="2304360"/>
            <a:ext cx="262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Data quality issues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6"/>
          <p:cNvSpPr/>
          <p:nvPr/>
        </p:nvSpPr>
        <p:spPr>
          <a:xfrm>
            <a:off x="932760" y="2921400"/>
            <a:ext cx="82080" cy="8208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7"/>
          <p:cNvSpPr/>
          <p:nvPr/>
        </p:nvSpPr>
        <p:spPr>
          <a:xfrm>
            <a:off x="1097280" y="2853000"/>
            <a:ext cx="262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Multi-source integration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8"/>
          <p:cNvSpPr/>
          <p:nvPr/>
        </p:nvSpPr>
        <p:spPr>
          <a:xfrm>
            <a:off x="932760" y="3470040"/>
            <a:ext cx="82080" cy="8208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9"/>
          <p:cNvSpPr/>
          <p:nvPr/>
        </p:nvSpPr>
        <p:spPr>
          <a:xfrm>
            <a:off x="1097280" y="3401640"/>
            <a:ext cx="262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Optimization complexity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10"/>
          <p:cNvSpPr/>
          <p:nvPr/>
        </p:nvSpPr>
        <p:spPr>
          <a:xfrm>
            <a:off x="932760" y="4018680"/>
            <a:ext cx="82080" cy="8208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11"/>
          <p:cNvSpPr/>
          <p:nvPr/>
        </p:nvSpPr>
        <p:spPr>
          <a:xfrm>
            <a:off x="1097280" y="3950280"/>
            <a:ext cx="262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Dashboard usability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12"/>
          <p:cNvSpPr/>
          <p:nvPr/>
        </p:nvSpPr>
        <p:spPr>
          <a:xfrm>
            <a:off x="932760" y="4567320"/>
            <a:ext cx="82080" cy="82080"/>
          </a:xfrm>
          <a:prstGeom prst="ellipse">
            <a:avLst/>
          </a:prstGeom>
          <a:solidFill>
            <a:srgbClr val="FF7A90"/>
          </a:solidFill>
          <a:ln w="12700">
            <a:solidFill>
              <a:srgbClr val="FF7A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13"/>
          <p:cNvSpPr/>
          <p:nvPr/>
        </p:nvSpPr>
        <p:spPr>
          <a:xfrm>
            <a:off x="1097280" y="4498920"/>
            <a:ext cx="262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Email authentication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14"/>
          <p:cNvSpPr/>
          <p:nvPr/>
        </p:nvSpPr>
        <p:spPr>
          <a:xfrm>
            <a:off x="4480560" y="1481400"/>
            <a:ext cx="3401280" cy="4224240"/>
          </a:xfrm>
          <a:prstGeom prst="roundRect">
            <a:avLst>
              <a:gd name="adj" fmla="val 3226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15"/>
          <p:cNvSpPr/>
          <p:nvPr/>
        </p:nvSpPr>
        <p:spPr>
          <a:xfrm>
            <a:off x="4736520" y="179208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BA3FF"/>
                </a:solidFill>
                <a:effectLst/>
                <a:uFillTx/>
                <a:latin typeface="Aptos"/>
              </a:rPr>
              <a:t>LEARNED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16"/>
          <p:cNvSpPr/>
          <p:nvPr/>
        </p:nvSpPr>
        <p:spPr>
          <a:xfrm>
            <a:off x="4754880" y="2372760"/>
            <a:ext cx="82080" cy="82080"/>
          </a:xfrm>
          <a:prstGeom prst="ellipse">
            <a:avLst/>
          </a:prstGeom>
          <a:solidFill>
            <a:srgbClr val="4BA3FF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17"/>
          <p:cNvSpPr/>
          <p:nvPr/>
        </p:nvSpPr>
        <p:spPr>
          <a:xfrm>
            <a:off x="4919400" y="2304360"/>
            <a:ext cx="262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Data engineering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18"/>
          <p:cNvSpPr/>
          <p:nvPr/>
        </p:nvSpPr>
        <p:spPr>
          <a:xfrm>
            <a:off x="4754880" y="2921400"/>
            <a:ext cx="82080" cy="82080"/>
          </a:xfrm>
          <a:prstGeom prst="ellipse">
            <a:avLst/>
          </a:prstGeom>
          <a:solidFill>
            <a:srgbClr val="4BA3FF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19"/>
          <p:cNvSpPr/>
          <p:nvPr/>
        </p:nvSpPr>
        <p:spPr>
          <a:xfrm>
            <a:off x="4919400" y="2853000"/>
            <a:ext cx="262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Financial analytics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20"/>
          <p:cNvSpPr/>
          <p:nvPr/>
        </p:nvSpPr>
        <p:spPr>
          <a:xfrm>
            <a:off x="4754880" y="3470040"/>
            <a:ext cx="82080" cy="82080"/>
          </a:xfrm>
          <a:prstGeom prst="ellipse">
            <a:avLst/>
          </a:prstGeom>
          <a:solidFill>
            <a:srgbClr val="4BA3FF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21"/>
          <p:cNvSpPr/>
          <p:nvPr/>
        </p:nvSpPr>
        <p:spPr>
          <a:xfrm>
            <a:off x="4919400" y="3401640"/>
            <a:ext cx="262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SQL + schema design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22"/>
          <p:cNvSpPr/>
          <p:nvPr/>
        </p:nvSpPr>
        <p:spPr>
          <a:xfrm>
            <a:off x="4754880" y="4018680"/>
            <a:ext cx="82080" cy="82080"/>
          </a:xfrm>
          <a:prstGeom prst="ellipse">
            <a:avLst/>
          </a:prstGeom>
          <a:solidFill>
            <a:srgbClr val="4BA3FF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23"/>
          <p:cNvSpPr/>
          <p:nvPr/>
        </p:nvSpPr>
        <p:spPr>
          <a:xfrm>
            <a:off x="4919400" y="3950280"/>
            <a:ext cx="262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Streamlit + visualization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24"/>
          <p:cNvSpPr/>
          <p:nvPr/>
        </p:nvSpPr>
        <p:spPr>
          <a:xfrm>
            <a:off x="4754880" y="4567320"/>
            <a:ext cx="82080" cy="82080"/>
          </a:xfrm>
          <a:prstGeom prst="ellipse">
            <a:avLst/>
          </a:prstGeom>
          <a:solidFill>
            <a:srgbClr val="4BA3FF"/>
          </a:solidFill>
          <a:ln w="12700">
            <a:solidFill>
              <a:srgbClr val="4BA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25"/>
          <p:cNvSpPr/>
          <p:nvPr/>
        </p:nvSpPr>
        <p:spPr>
          <a:xfrm>
            <a:off x="4919400" y="4498920"/>
            <a:ext cx="262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Automation + Git/GitHub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26"/>
          <p:cNvSpPr/>
          <p:nvPr/>
        </p:nvSpPr>
        <p:spPr>
          <a:xfrm>
            <a:off x="8302680" y="1481400"/>
            <a:ext cx="3401280" cy="4224240"/>
          </a:xfrm>
          <a:prstGeom prst="roundRect">
            <a:avLst>
              <a:gd name="adj" fmla="val 3226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27"/>
          <p:cNvSpPr/>
          <p:nvPr/>
        </p:nvSpPr>
        <p:spPr>
          <a:xfrm>
            <a:off x="8558640" y="179208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FUTURE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28"/>
          <p:cNvSpPr/>
          <p:nvPr/>
        </p:nvSpPr>
        <p:spPr>
          <a:xfrm>
            <a:off x="8577000" y="2372760"/>
            <a:ext cx="82080" cy="8208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29"/>
          <p:cNvSpPr/>
          <p:nvPr/>
        </p:nvSpPr>
        <p:spPr>
          <a:xfrm>
            <a:off x="8741520" y="2304360"/>
            <a:ext cx="262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Real-time APIs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30"/>
          <p:cNvSpPr/>
          <p:nvPr/>
        </p:nvSpPr>
        <p:spPr>
          <a:xfrm>
            <a:off x="8577000" y="2921400"/>
            <a:ext cx="82080" cy="8208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31"/>
          <p:cNvSpPr/>
          <p:nvPr/>
        </p:nvSpPr>
        <p:spPr>
          <a:xfrm>
            <a:off x="8741520" y="2853000"/>
            <a:ext cx="262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ML-based prediction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32"/>
          <p:cNvSpPr/>
          <p:nvPr/>
        </p:nvSpPr>
        <p:spPr>
          <a:xfrm>
            <a:off x="8577000" y="3470040"/>
            <a:ext cx="82080" cy="8208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33"/>
          <p:cNvSpPr/>
          <p:nvPr/>
        </p:nvSpPr>
        <p:spPr>
          <a:xfrm>
            <a:off x="8741520" y="3401640"/>
            <a:ext cx="262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AI recommendations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34"/>
          <p:cNvSpPr/>
          <p:nvPr/>
        </p:nvSpPr>
        <p:spPr>
          <a:xfrm>
            <a:off x="8577000" y="4018680"/>
            <a:ext cx="82080" cy="8208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35"/>
          <p:cNvSpPr/>
          <p:nvPr/>
        </p:nvSpPr>
        <p:spPr>
          <a:xfrm>
            <a:off x="8741520" y="3950280"/>
            <a:ext cx="262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Cloud deployment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36"/>
          <p:cNvSpPr/>
          <p:nvPr/>
        </p:nvSpPr>
        <p:spPr>
          <a:xfrm>
            <a:off x="8577000" y="4567320"/>
            <a:ext cx="82080" cy="8208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37"/>
          <p:cNvSpPr/>
          <p:nvPr/>
        </p:nvSpPr>
        <p:spPr>
          <a:xfrm>
            <a:off x="8741520" y="4498920"/>
            <a:ext cx="262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D7DFEA"/>
                </a:solidFill>
                <a:effectLst/>
                <a:uFillTx/>
                <a:latin typeface="Aptos"/>
                <a:ea typeface="Aptos"/>
              </a:rPr>
              <a:t>Real-time portfolio tracking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38"/>
          <p:cNvSpPr/>
          <p:nvPr/>
        </p:nvSpPr>
        <p:spPr>
          <a:xfrm>
            <a:off x="822960" y="588888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7A90"/>
                </a:solidFill>
                <a:effectLst/>
                <a:uFillTx/>
                <a:latin typeface="Aptos"/>
              </a:rPr>
              <a:t>CHALLENGE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39"/>
          <p:cNvSpPr/>
          <p:nvPr/>
        </p:nvSpPr>
        <p:spPr>
          <a:xfrm>
            <a:off x="1783080" y="5943600"/>
            <a:ext cx="301752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40"/>
          <p:cNvSpPr/>
          <p:nvPr/>
        </p:nvSpPr>
        <p:spPr>
          <a:xfrm>
            <a:off x="4892040" y="5888880"/>
            <a:ext cx="959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4BA3FF"/>
                </a:solidFill>
                <a:effectLst/>
                <a:uFillTx/>
                <a:latin typeface="Aptos"/>
              </a:rPr>
              <a:t>LEARNING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41"/>
          <p:cNvSpPr/>
          <p:nvPr/>
        </p:nvSpPr>
        <p:spPr>
          <a:xfrm>
            <a:off x="5925240" y="5943600"/>
            <a:ext cx="303588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42"/>
          <p:cNvSpPr/>
          <p:nvPr/>
        </p:nvSpPr>
        <p:spPr>
          <a:xfrm>
            <a:off x="9034200" y="5888880"/>
            <a:ext cx="19198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FUTURE CAPABILITY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PlaceHolder 1"/>
          <p:cNvSpPr>
            <a:spLocks noGrp="1"/>
          </p:cNvSpPr>
          <p:nvPr>
            <p:ph type="sldNum" idx="18"/>
          </p:nvPr>
        </p:nvSpPr>
        <p:spPr>
          <a:xfrm>
            <a:off x="1175904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A92BD2C-AE21-48CF-BE54-E04E4514F55E}" type="slidenum">
              <a: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14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Text 0"/>
          <p:cNvSpPr/>
          <p:nvPr/>
        </p:nvSpPr>
        <p:spPr>
          <a:xfrm>
            <a:off x="621720" y="411480"/>
            <a:ext cx="104238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5F7FA"/>
                </a:solidFill>
                <a:effectLst/>
                <a:uFillTx/>
                <a:latin typeface="Aptos Display"/>
                <a:ea typeface="Aptos Display"/>
              </a:rPr>
              <a:t>Mutual Fund Analytics Platform — From Data to Decisions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1"/>
          <p:cNvSpPr/>
          <p:nvPr/>
        </p:nvSpPr>
        <p:spPr>
          <a:xfrm>
            <a:off x="640080" y="932760"/>
            <a:ext cx="10332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A unified system that connects data engineering, financial analytics, visualization, optimization, and automation.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2"/>
          <p:cNvSpPr/>
          <p:nvPr/>
        </p:nvSpPr>
        <p:spPr>
          <a:xfrm>
            <a:off x="621720" y="1920240"/>
            <a:ext cx="1407960" cy="749520"/>
          </a:xfrm>
          <a:prstGeom prst="roundRect">
            <a:avLst>
              <a:gd name="adj" fmla="val 14634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3"/>
          <p:cNvSpPr/>
          <p:nvPr/>
        </p:nvSpPr>
        <p:spPr>
          <a:xfrm>
            <a:off x="694800" y="2167200"/>
            <a:ext cx="1261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BA3FF"/>
                </a:solidFill>
                <a:effectLst/>
                <a:uFillTx/>
                <a:latin typeface="Aptos"/>
              </a:rPr>
              <a:t>DATA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4"/>
          <p:cNvSpPr/>
          <p:nvPr/>
        </p:nvSpPr>
        <p:spPr>
          <a:xfrm>
            <a:off x="2029680" y="2295000"/>
            <a:ext cx="18288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5"/>
          <p:cNvSpPr/>
          <p:nvPr/>
        </p:nvSpPr>
        <p:spPr>
          <a:xfrm>
            <a:off x="2249280" y="1920240"/>
            <a:ext cx="1407960" cy="749520"/>
          </a:xfrm>
          <a:prstGeom prst="roundRect">
            <a:avLst>
              <a:gd name="adj" fmla="val 14634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6"/>
          <p:cNvSpPr/>
          <p:nvPr/>
        </p:nvSpPr>
        <p:spPr>
          <a:xfrm>
            <a:off x="2322720" y="2167200"/>
            <a:ext cx="1261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DD7FF"/>
                </a:solidFill>
                <a:effectLst/>
                <a:uFillTx/>
                <a:latin typeface="Aptos"/>
              </a:rPr>
              <a:t>ENGINEERING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7"/>
          <p:cNvSpPr/>
          <p:nvPr/>
        </p:nvSpPr>
        <p:spPr>
          <a:xfrm>
            <a:off x="3657600" y="2295000"/>
            <a:ext cx="18288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8"/>
          <p:cNvSpPr/>
          <p:nvPr/>
        </p:nvSpPr>
        <p:spPr>
          <a:xfrm>
            <a:off x="3877200" y="1920240"/>
            <a:ext cx="1407960" cy="749520"/>
          </a:xfrm>
          <a:prstGeom prst="roundRect">
            <a:avLst>
              <a:gd name="adj" fmla="val 14634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9"/>
          <p:cNvSpPr/>
          <p:nvPr/>
        </p:nvSpPr>
        <p:spPr>
          <a:xfrm>
            <a:off x="3950280" y="2167200"/>
            <a:ext cx="1261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C857"/>
                </a:solidFill>
                <a:effectLst/>
                <a:uFillTx/>
                <a:latin typeface="Aptos"/>
              </a:rPr>
              <a:t>ANALYTICS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10"/>
          <p:cNvSpPr/>
          <p:nvPr/>
        </p:nvSpPr>
        <p:spPr>
          <a:xfrm>
            <a:off x="5285160" y="2295000"/>
            <a:ext cx="18288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11"/>
          <p:cNvSpPr/>
          <p:nvPr/>
        </p:nvSpPr>
        <p:spPr>
          <a:xfrm>
            <a:off x="5504760" y="1920240"/>
            <a:ext cx="1407960" cy="749520"/>
          </a:xfrm>
          <a:prstGeom prst="roundRect">
            <a:avLst>
              <a:gd name="adj" fmla="val 14634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12"/>
          <p:cNvSpPr/>
          <p:nvPr/>
        </p:nvSpPr>
        <p:spPr>
          <a:xfrm>
            <a:off x="5577840" y="2167200"/>
            <a:ext cx="1261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7A90"/>
                </a:solidFill>
                <a:effectLst/>
                <a:uFillTx/>
                <a:latin typeface="Aptos"/>
              </a:rPr>
              <a:t>VISUALIZATION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13"/>
          <p:cNvSpPr/>
          <p:nvPr/>
        </p:nvSpPr>
        <p:spPr>
          <a:xfrm>
            <a:off x="6912720" y="2295000"/>
            <a:ext cx="18288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14"/>
          <p:cNvSpPr/>
          <p:nvPr/>
        </p:nvSpPr>
        <p:spPr>
          <a:xfrm>
            <a:off x="7132320" y="1920240"/>
            <a:ext cx="1407960" cy="749520"/>
          </a:xfrm>
          <a:prstGeom prst="roundRect">
            <a:avLst>
              <a:gd name="adj" fmla="val 14634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15"/>
          <p:cNvSpPr/>
          <p:nvPr/>
        </p:nvSpPr>
        <p:spPr>
          <a:xfrm>
            <a:off x="7205400" y="2167200"/>
            <a:ext cx="1261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OPTIMIZATION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16"/>
          <p:cNvSpPr/>
          <p:nvPr/>
        </p:nvSpPr>
        <p:spPr>
          <a:xfrm>
            <a:off x="8540280" y="2295000"/>
            <a:ext cx="18288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17"/>
          <p:cNvSpPr/>
          <p:nvPr/>
        </p:nvSpPr>
        <p:spPr>
          <a:xfrm>
            <a:off x="8759880" y="1920240"/>
            <a:ext cx="1407960" cy="749520"/>
          </a:xfrm>
          <a:prstGeom prst="roundRect">
            <a:avLst>
              <a:gd name="adj" fmla="val 14634"/>
            </a:avLst>
          </a:prstGeom>
          <a:solidFill>
            <a:srgbClr val="121B2C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18"/>
          <p:cNvSpPr/>
          <p:nvPr/>
        </p:nvSpPr>
        <p:spPr>
          <a:xfrm>
            <a:off x="8832960" y="2167200"/>
            <a:ext cx="1261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BA3FF"/>
                </a:solidFill>
                <a:effectLst/>
                <a:uFillTx/>
                <a:latin typeface="Aptos"/>
              </a:rPr>
              <a:t>AUTOMATION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Shape 19"/>
          <p:cNvSpPr/>
          <p:nvPr/>
        </p:nvSpPr>
        <p:spPr>
          <a:xfrm>
            <a:off x="10167840" y="2295000"/>
            <a:ext cx="182880" cy="360"/>
          </a:xfrm>
          <a:prstGeom prst="line">
            <a:avLst/>
          </a:prstGeom>
          <a:ln w="12700">
            <a:solidFill>
              <a:srgbClr val="8C98A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20"/>
          <p:cNvSpPr/>
          <p:nvPr/>
        </p:nvSpPr>
        <p:spPr>
          <a:xfrm>
            <a:off x="10387440" y="1920240"/>
            <a:ext cx="1828440" cy="749520"/>
          </a:xfrm>
          <a:prstGeom prst="roundRect">
            <a:avLst>
              <a:gd name="adj" fmla="val 14634"/>
            </a:avLst>
          </a:prstGeom>
          <a:solidFill>
            <a:srgbClr val="102B24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21"/>
          <p:cNvSpPr/>
          <p:nvPr/>
        </p:nvSpPr>
        <p:spPr>
          <a:xfrm>
            <a:off x="10460880" y="2167200"/>
            <a:ext cx="16822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DECISION SUPPORT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22"/>
          <p:cNvSpPr/>
          <p:nvPr/>
        </p:nvSpPr>
        <p:spPr>
          <a:xfrm>
            <a:off x="1134000" y="3246120"/>
            <a:ext cx="9911880" cy="1462680"/>
          </a:xfrm>
          <a:prstGeom prst="roundRect">
            <a:avLst>
              <a:gd name="adj" fmla="val 7500"/>
            </a:avLst>
          </a:prstGeom>
          <a:solidFill>
            <a:srgbClr val="172337"/>
          </a:solidFill>
          <a:ln w="12700">
            <a:solidFill>
              <a:srgbClr val="2936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23"/>
          <p:cNvSpPr/>
          <p:nvPr/>
        </p:nvSpPr>
        <p:spPr>
          <a:xfrm>
            <a:off x="1572840" y="3584520"/>
            <a:ext cx="90338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5F7FA"/>
                </a:solidFill>
                <a:effectLst/>
                <a:uFillTx/>
                <a:latin typeface="Aptos"/>
              </a:rPr>
              <a:t>“The platform turns scattered mutual fund data into a repeatable analytical workflow — and then automates the final mile.”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24"/>
          <p:cNvSpPr/>
          <p:nvPr/>
        </p:nvSpPr>
        <p:spPr>
          <a:xfrm>
            <a:off x="4864680" y="523044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5EE6A8"/>
                </a:solidFill>
                <a:effectLst/>
                <a:uFillTx/>
                <a:latin typeface="Aptos"/>
              </a:rPr>
              <a:t>THANK YOU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1"/>
          <p:cNvSpPr>
            <a:spLocks noGrp="1"/>
          </p:cNvSpPr>
          <p:nvPr>
            <p:ph type="sldNum" idx="19"/>
          </p:nvPr>
        </p:nvSpPr>
        <p:spPr>
          <a:xfrm>
            <a:off x="1175904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F64BDDF-3520-4420-9BFF-086CBF62D454}" type="slidenum">
              <a:rPr lang="en-US" sz="800" b="0" u="none" strike="noStrike">
                <a:solidFill>
                  <a:srgbClr val="8C98A8"/>
                </a:solidFill>
                <a:effectLst/>
                <a:uFillTx/>
                <a:latin typeface="Aptos"/>
                <a:ea typeface="Aptos"/>
              </a:rPr>
              <a:t>15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1252</Words>
  <Application>Microsoft Office PowerPoint</Application>
  <PresentationFormat>Widescreen</PresentationFormat>
  <Paragraphs>337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Dronacharya College of Engineering, Gurugram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Lakshay</dc:creator>
  <cp:lastModifiedBy>Lakshay Negi</cp:lastModifiedBy>
  <cp:revision>1</cp:revision>
  <dcterms:modified xsi:type="dcterms:W3CDTF">2026-08-20T12:15:31Z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2026-08-20T11:38:54Z</dcterms:created>
  <dc:creator>Lakshay Negi</dc:creator>
  <dc:description/>
  <dc:language>en-US</dc:language>
  <cp:lastModifiedBy>Lakshay Negi</cp:lastModifiedBy>
  <dcterms:modified xsi:type="dcterms:W3CDTF">2026-08-20T11:38:54Z</dcterms:modified>
  <cp:revision>1</cp:revision>
  <dc:subject>Mutual Fund Analytics Platform</dc:subject>
  <dc:title>Mutual Fund Analytics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15</vt:r8>
  </property>
  <property fmtid="{D5CDD505-2E9C-101B-9397-08002B2CF9AE}" pid="3" name="PresentationFormat">
    <vt:lpwstr>On-screen Show (16:9)</vt:lpwstr>
  </property>
  <property fmtid="{D5CDD505-2E9C-101B-9397-08002B2CF9AE}" pid="4" name="Slides">
    <vt:r8>15</vt:r8>
  </property>
</Properties>
</file>